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4"/>
  </p:notesMasterIdLst>
  <p:sldIdLst>
    <p:sldId id="256" r:id="rId2"/>
    <p:sldId id="325" r:id="rId3"/>
    <p:sldId id="326" r:id="rId4"/>
    <p:sldId id="327" r:id="rId5"/>
    <p:sldId id="328" r:id="rId6"/>
    <p:sldId id="329" r:id="rId7"/>
    <p:sldId id="330" r:id="rId8"/>
    <p:sldId id="331" r:id="rId9"/>
    <p:sldId id="335" r:id="rId10"/>
    <p:sldId id="333" r:id="rId11"/>
    <p:sldId id="334" r:id="rId12"/>
    <p:sldId id="324" r:id="rId13"/>
  </p:sldIdLst>
  <p:sldSz cx="12192000" cy="6858000"/>
  <p:notesSz cx="6858000" cy="12192000"/>
  <p:embeddedFontLst>
    <p:embeddedFont>
      <p:font typeface="Aharoni" panose="02010803020104030203" pitchFamily="2" charset="-79"/>
      <p:bold r:id="rId15"/>
    </p:embeddedFont>
    <p:embeddedFont>
      <p:font typeface="Arial Rounded MT Bold" panose="020F0704030504030204" pitchFamily="34" charset="0"/>
      <p:regular r:id="rId16"/>
    </p:embeddedFont>
    <p:embeddedFont>
      <p:font typeface="Maiandra GD" panose="020E0502030308020204" pitchFamily="34" charset="0"/>
      <p:regular r:id="rId17"/>
    </p:embeddedFont>
  </p:embeddedFontLst>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42F484E2-D13C-4198-809A-BEC5E46278DC}" styleName="Style 3">
    <a:wholeTbl>
      <a:tcTxStyle>
        <a:fontRef idx="minor">
          <a:srgbClr val="000000"/>
        </a:fontRef>
        <a:schemeClr val="tx1"/>
      </a:tcTxStyle>
      <a:tcStyle>
        <a:tcBdr>
          <a:left>
            <a:ln w="12700">
              <a:solidFill>
                <a:schemeClr val="accent1"/>
              </a:solidFill>
            </a:ln>
          </a:left>
          <a:right>
            <a:ln w="12700">
              <a:solidFill>
                <a:schemeClr val="accent1"/>
              </a:solidFill>
            </a:ln>
          </a:right>
          <a:top>
            <a:ln w="12700">
              <a:solidFill>
                <a:schemeClr val="accent1"/>
              </a:solidFill>
            </a:ln>
          </a:top>
          <a:bottom>
            <a:ln w="12700">
              <a:solidFill>
                <a:schemeClr val="accent1"/>
              </a:solidFill>
            </a:ln>
          </a:bottom>
          <a:insideH>
            <a:ln w="12700">
              <a:solidFill>
                <a:schemeClr val="accent1"/>
              </a:solidFill>
            </a:ln>
          </a:insideH>
          <a:insideV>
            <a:ln w="12700">
              <a:solidFill>
                <a:schemeClr val="accent1"/>
              </a:solidFill>
            </a:ln>
          </a:insideV>
        </a:tcBdr>
        <a:fill>
          <a:noFill/>
        </a:fill>
      </a:tcStyle>
    </a:wholeTbl>
    <a:band1H>
      <a:tcStyle>
        <a:tcBdr/>
        <a:fill>
          <a:solidFill>
            <a:schemeClr val="accent1">
              <a:alpha val="19999"/>
            </a:schemeClr>
          </a:solidFill>
        </a:fill>
      </a:tcStyle>
    </a:band1H>
    <a:band1V>
      <a:tcStyle>
        <a:tcBdr/>
        <a:fill>
          <a:solidFill>
            <a:schemeClr val="accent1">
              <a:alpha val="19999"/>
            </a:schemeClr>
          </a:solidFill>
        </a:fill>
      </a:tcStyle>
    </a:band1V>
    <a:lastCol>
      <a:tcTxStyle b="on"/>
      <a:tcStyle>
        <a:tcBdr/>
      </a:tcStyle>
    </a:lastCol>
    <a:firstCol>
      <a:tcTxStyle b="on"/>
      <a:tcStyle>
        <a:tcBdr/>
      </a:tcStyle>
    </a:firstCol>
    <a:lastRow>
      <a:tcTxStyle b="on"/>
      <a:tcStyle>
        <a:tcBdr>
          <a:top>
            <a:ln w="50800">
              <a:solidFill>
                <a:schemeClr val="accent1"/>
              </a:solidFill>
            </a:ln>
          </a:top>
        </a:tcBdr>
        <a:fill>
          <a:noFill/>
        </a:fill>
      </a:tcStyle>
    </a:lastRow>
    <a:firstRow>
      <a:tcTxStyle b="on"/>
      <a:tcStyle>
        <a:tcBdr>
          <a:bottom>
            <a:ln w="25400">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63" autoAdjust="0"/>
    <p:restoredTop sz="86405" autoAdjust="0"/>
  </p:normalViewPr>
  <p:slideViewPr>
    <p:cSldViewPr>
      <p:cViewPr varScale="1">
        <p:scale>
          <a:sx n="71" d="100"/>
          <a:sy n="71" d="100"/>
        </p:scale>
        <p:origin x="1330"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671638" cy="81562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185095" y="0"/>
            <a:ext cx="1671638" cy="815623"/>
          </a:xfrm>
          <a:prstGeom prst="rect">
            <a:avLst/>
          </a:prstGeom>
        </p:spPr>
        <p:txBody>
          <a:bodyPr vert="horz" lIns="91440" tIns="45720" rIns="91440" bIns="45720" rtlCol="0"/>
          <a:lstStyle>
            <a:lvl1pPr algn="r">
              <a:defRPr sz="1200"/>
            </a:lvl1pPr>
          </a:lstStyle>
          <a:p>
            <a:fld id="{44B65459-4C01-9248-BDAA-F28591FAF6F5}" type="datetimeFigureOut">
              <a:rPr lang="en-US" smtClean="0"/>
              <a:t>10/29/2026</a:t>
            </a:fld>
            <a:endParaRPr lang="en-US"/>
          </a:p>
        </p:txBody>
      </p:sp>
      <p:sp>
        <p:nvSpPr>
          <p:cNvPr id="4" name="Slide Image Placeholder 3"/>
          <p:cNvSpPr>
            <a:spLocks noGrp="1" noRot="1" noChangeAspect="1"/>
          </p:cNvSpPr>
          <p:nvPr>
            <p:ph type="sldImg" idx="2"/>
          </p:nvPr>
        </p:nvSpPr>
        <p:spPr>
          <a:xfrm>
            <a:off x="-2947988" y="2032000"/>
            <a:ext cx="9753601" cy="5486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85763" y="7823200"/>
            <a:ext cx="3086100" cy="6400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5440380"/>
            <a:ext cx="1671638" cy="81562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185095" y="15440380"/>
            <a:ext cx="1671638" cy="815621"/>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t>2</a:t>
            </a:fld>
            <a:endParaRPr lang="en-US"/>
          </a:p>
        </p:txBody>
      </p:sp>
    </p:spTree>
    <p:extLst>
      <p:ext uri="{BB962C8B-B14F-4D97-AF65-F5344CB8AC3E}">
        <p14:creationId xmlns:p14="http://schemas.microsoft.com/office/powerpoint/2010/main" val="3862827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t>9</a:t>
            </a:fld>
            <a:endParaRPr lang="en-US"/>
          </a:p>
        </p:txBody>
      </p:sp>
    </p:spTree>
    <p:extLst>
      <p:ext uri="{BB962C8B-B14F-4D97-AF65-F5344CB8AC3E}">
        <p14:creationId xmlns:p14="http://schemas.microsoft.com/office/powerpoint/2010/main" val="30017783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3DCFA7E3-AF1E-4675-AD18-D5B679F37F4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4E6D2F1-D737-43DE-B4CE-C454EF7BBD4A}"/>
              </a:ext>
            </a:extLst>
          </p:cNvPr>
          <p:cNvSpPr>
            <a:spLocks noGrp="1"/>
          </p:cNvSpPr>
          <p:nvPr>
            <p:ph type="title"/>
          </p:nvPr>
        </p:nvSpPr>
        <p:spPr>
          <a:xfrm>
            <a:off x="1524000" y="1854199"/>
            <a:ext cx="9144000" cy="1655763"/>
          </a:xfrm>
        </p:spPr>
        <p:txBody>
          <a:bodyPr rtlCol="0" anchor="b"/>
          <a:lstStyle>
            <a:lvl1pPr lvl="0" algn="ctr">
              <a:defRPr lang="en-US" sz="6000" dirty="0"/>
            </a:lvl1pPr>
          </a:lstStyle>
          <a:p>
            <a:r>
              <a:rPr lang="en-US" dirty="0"/>
              <a:t>Click to edit Master title style</a:t>
            </a:r>
          </a:p>
        </p:txBody>
      </p:sp>
      <p:sp>
        <p:nvSpPr>
          <p:cNvPr id="3" name="Subtitle 2">
            <a:extLst>
              <a:ext uri="{32171CF1-2CD1-4848-A55A-5A508E25A32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04F51DF-EF08-4C97-A330-FD7D92F0EA98}"/>
              </a:ext>
            </a:extLst>
          </p:cNvPr>
          <p:cNvSpPr>
            <a:spLocks noGrp="1"/>
          </p:cNvSpPr>
          <p:nvPr>
            <p:ph type="subTitle" idx="1"/>
          </p:nvPr>
        </p:nvSpPr>
        <p:spPr>
          <a:xfrm>
            <a:off x="1524000" y="3602038"/>
            <a:ext cx="9144000" cy="1655762"/>
          </a:xfrm>
        </p:spPr>
        <p:txBody>
          <a:bodyPr rtlCol="0"/>
          <a:lstStyle>
            <a:lvl1pPr marL="0" lvl="0" indent="0" algn="ctr">
              <a:buNone/>
              <a:defRPr lang="en-US" sz="2400" dirty="0"/>
            </a:lvl1pPr>
            <a:lvl2pPr marL="457200" lvl="1" indent="0" algn="ctr">
              <a:buNone/>
              <a:defRPr lang="en-US" sz="2000" dirty="0"/>
            </a:lvl2pPr>
            <a:lvl3pPr marL="914400" lvl="2" indent="0" algn="ctr">
              <a:buNone/>
              <a:defRPr lang="en-US" sz="1800" dirty="0"/>
            </a:lvl3pPr>
            <a:lvl4pPr marL="1371600" lvl="3" indent="0" algn="ctr">
              <a:buNone/>
              <a:defRPr lang="en-US" sz="1600" dirty="0"/>
            </a:lvl4pPr>
            <a:lvl5pPr marL="1828800" lvl="4" indent="0" algn="ctr">
              <a:buNone/>
              <a:defRPr lang="en-US" sz="1600" dirty="0"/>
            </a:lvl5pPr>
            <a:lvl6pPr marL="2286000" lvl="5" indent="0" algn="ctr">
              <a:buNone/>
              <a:defRPr lang="en-US" sz="1600" dirty="0"/>
            </a:lvl6pPr>
            <a:lvl7pPr marL="2743200" lvl="6" indent="0" algn="ctr">
              <a:buNone/>
              <a:defRPr lang="en-US" sz="1600" dirty="0"/>
            </a:lvl7pPr>
            <a:lvl8pPr marL="3200400" lvl="7" indent="0" algn="ctr">
              <a:buNone/>
              <a:defRPr lang="en-US" sz="1600" dirty="0"/>
            </a:lvl8pPr>
            <a:lvl9pPr marL="3657600" lvl="8" indent="0" algn="ctr">
              <a:buNone/>
              <a:defRPr lang="en-US" sz="1600" dirty="0"/>
            </a:lvl9pPr>
          </a:lstStyle>
          <a:p>
            <a:r>
              <a:rPr lang="en-US" dirty="0"/>
              <a:t>Click to edit Master subtitle style</a:t>
            </a:r>
          </a:p>
        </p:txBody>
      </p:sp>
      <p:pic>
        <p:nvPicPr>
          <p:cNvPr id="4" name="Picture 3">
            <a:extLst>
              <a:ext uri="{C1EB77FD-C848-422B-B273-451CDA41F43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1682ECF-C071-4F62-8564-87ABCCA31ACA}"/>
              </a:ext>
            </a:extLst>
          </p:cNvPr>
          <p:cNvPicPr>
            <a:picLocks noChangeAspect="1"/>
          </p:cNvPicPr>
          <p:nvPr userDrawn="1"/>
        </p:nvPicPr>
        <p:blipFill>
          <a:blip r:embed="rId2"/>
          <a:stretch>
            <a:fillRect/>
          </a:stretch>
        </p:blipFill>
        <p:spPr>
          <a:xfrm>
            <a:off x="2567608" y="592088"/>
            <a:ext cx="7609140" cy="1008112"/>
          </a:xfrm>
          <a:prstGeom prst="rect">
            <a:avLst/>
          </a:prstGeom>
          <a:noFill/>
        </p:spPr>
      </p:pic>
      <p:sp>
        <p:nvSpPr>
          <p:cNvPr id="5" name="Footer Placeholder 4">
            <a:extLst>
              <a:ext uri="{C687AB22-C009-4796-A595-4B274F53E9E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9EC38CB-622C-4106-803A-85E3D5477226}"/>
              </a:ext>
            </a:extLst>
          </p:cNvPr>
          <p:cNvSpPr>
            <a:spLocks noGrp="1"/>
          </p:cNvSpPr>
          <p:nvPr>
            <p:ph type="ftr" sz="quarter" idx="11"/>
          </p:nvPr>
        </p:nvSpPr>
        <p:spPr/>
        <p:txBody>
          <a:bodyPr rtlCol="0"/>
          <a:lstStyle>
            <a:lvl1pPr lvl="0"/>
          </a:lstStyle>
          <a:p>
            <a:r>
              <a:rPr lang="en-US"/>
              <a:t>PBL Course Name: Object Oriented Programming through C++(2501CS08)     REVIEW-1</a:t>
            </a:r>
            <a:endParaRPr lang="en-US" dirty="0"/>
          </a:p>
        </p:txBody>
      </p:sp>
      <p:sp>
        <p:nvSpPr>
          <p:cNvPr id="6" name="Slide Number Placeholder 5">
            <a:extLst>
              <a:ext uri="{30F4214F-3E4E-4B8B-8AC2-BF59D50B2CD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25D679E-58E0-45F1-BEFC-163C6EEC181D}"/>
              </a:ext>
            </a:extLst>
          </p:cNvPr>
          <p:cNvSpPr>
            <a:spLocks noGrp="1"/>
          </p:cNvSpPr>
          <p:nvPr>
            <p:ph type="sldNum" sz="quarter" idx="12"/>
          </p:nvPr>
        </p:nvSpPr>
        <p:spPr/>
        <p:txBody>
          <a:bodyPr rtlCol="0"/>
          <a:lstStyle>
            <a:lvl1pPr lvl="0"/>
          </a:lstStyle>
          <a:p>
            <a:r>
              <a:rPr lang="en-US" dirty="0"/>
              <a:t>&lt;#&gt;</a:t>
            </a:r>
          </a:p>
        </p:txBody>
      </p:sp>
      <p:sp>
        <p:nvSpPr>
          <p:cNvPr id="7" name="Date Placeholder 3">
            <a:extLst>
              <a:ext uri="{02364871-6258-47BB-A41D-1E9BEBD3EA9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E775BF1-9C64-4531-A7E2-730347FD3CA5}"/>
              </a:ext>
            </a:extLst>
          </p:cNvPr>
          <p:cNvSpPr>
            <a:spLocks noGrp="1"/>
          </p:cNvSpPr>
          <p:nvPr>
            <p:ph type="dt" sz="half" idx="10"/>
          </p:nvPr>
        </p:nvSpPr>
        <p:spPr/>
        <p:txBody>
          <a:bodyPr rtlCol="0"/>
          <a:lstStyle>
            <a:lvl1pPr lvl="0"/>
          </a:lstStyle>
          <a:p>
            <a:fld id="{23B885CB-12B0-4AB7-A523-856A576656C9}" type="datetime1">
              <a:rPr lang="en-US" smtClean="0"/>
              <a:t>10/29/2026</a:t>
            </a:fld>
            <a:endParaRPr lang="en-US" dirty="0"/>
          </a:p>
        </p:txBody>
      </p:sp>
    </p:spTree>
    <p:extLst>
      <p:ext uri="{7D129387-9967-4C73-939D-69EF041DFD95}">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Content Placeholder 2">
            <a:extLst>
              <a:ext uri="{05269A97-DC81-49F9-B896-84CAB659C62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56F5785-025F-4915-96E3-0AFF7163BC15}"/>
              </a:ext>
            </a:extLst>
          </p:cNvPr>
          <p:cNvSpPr>
            <a:spLocks noGrp="1"/>
          </p:cNvSpPr>
          <p:nvPr>
            <p:ph/>
          </p:nvPr>
        </p:nvSpPr>
        <p:spPr>
          <a:xfrm>
            <a:off x="869085" y="1561876"/>
            <a:ext cx="10515600" cy="4531419"/>
          </a:xfrm>
        </p:spPr>
        <p:txBody>
          <a:bodyPr rtlCol="0"/>
          <a:lstStyle>
            <a:lvl1pPr marL="457200" lvl="0" indent="0">
              <a:buNone/>
            </a:lvl1pPr>
            <a:lvl2pPr marL="914400" lvl="1" indent="0">
              <a:buNone/>
            </a:lvl2pPr>
            <a:lvl3pPr marL="1371600" lvl="2" indent="0">
              <a:buNone/>
            </a:lvl3pPr>
            <a:lvl4pPr marL="1828800" lvl="3" indent="0">
              <a:buNone/>
            </a:lvl4pPr>
          </a:lstStyle>
          <a:p>
            <a:pPr lvl="0"/>
            <a:r>
              <a:rPr lang="en-US" dirty="0"/>
              <a:t>Click to edit Master text styles</a:t>
            </a:r>
          </a:p>
        </p:txBody>
      </p:sp>
      <p:sp>
        <p:nvSpPr>
          <p:cNvPr id="3" name="Date Placeholder 2">
            <a:extLst>
              <a:ext uri="{C7EE3D1E-6A2F-4B40-9445-6784FC740A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4C561F3-3431-4CB3-94B3-3A3D9CDA63D8}"/>
              </a:ext>
            </a:extLst>
          </p:cNvPr>
          <p:cNvSpPr>
            <a:spLocks noGrp="1"/>
          </p:cNvSpPr>
          <p:nvPr>
            <p:ph type="dt" sz="half" idx="1"/>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C20F1802-9C65-458A-8FBF-F4B557FF2340}" type="datetime1">
              <a:rPr lang="en-US" smtClean="0"/>
              <a:t>10/29/2026</a:t>
            </a:fld>
            <a:endParaRPr lang="en-US" dirty="0"/>
          </a:p>
        </p:txBody>
      </p:sp>
      <p:sp>
        <p:nvSpPr>
          <p:cNvPr id="4" name="Footer Placeholder 3">
            <a:extLst>
              <a:ext uri="{E2B100E3-D1A2-4814-971B-1F28BC986BE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6403740-14DB-4D0C-AC81-1640F2592B4A}"/>
              </a:ext>
            </a:extLst>
          </p:cNvPr>
          <p:cNvSpPr>
            <a:spLocks noGrp="1"/>
          </p:cNvSpPr>
          <p:nvPr>
            <p:ph type="ftr" sz="quarter" idx="2"/>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a:t>PBL Course Name: Object Oriented Programming through C++(2501CS08)     REVIEW-1</a:t>
            </a:r>
            <a:endParaRPr lang="en-US" dirty="0"/>
          </a:p>
        </p:txBody>
      </p:sp>
      <p:pic>
        <p:nvPicPr>
          <p:cNvPr id="5" name="Picture 2">
            <a:extLst>
              <a:ext uri="{DAD87817-DB1B-4DE8-BD41-41BB3E99A74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3518EA9-28E9-4397-BCB4-F5D7ABFF9E3A}"/>
              </a:ext>
            </a:extLst>
          </p:cNvPr>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6" name="Slide Number Placeholder 3">
            <a:extLst>
              <a:ext uri="{8B62DEED-5952-4478-9464-706CCDCB22D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265A311-D434-4806-B3C0-ED40E2B04ADB}"/>
              </a:ext>
            </a:extLst>
          </p:cNvPr>
          <p:cNvSpPr>
            <a:spLocks noGrp="1"/>
          </p:cNvSpPr>
          <p:nvPr>
            <p:ph type="sldNum" sz="quarter" idx="3"/>
          </p:nvPr>
        </p:nvSpPr>
        <p:spPr>
          <a:xfrm>
            <a:off x="10272464" y="6356350"/>
            <a:ext cx="1081336" cy="365125"/>
          </a:xfrm>
        </p:spPr>
        <p:txBody>
          <a:bodyPr rtlCol="0"/>
          <a:lstStyle/>
          <a:p>
            <a:fld id="{9359D16F-76A5-41BA-ADDD-CBF352B33DDD}" type="slidenum">
              <a:t>‹#›</a:t>
            </a:fld>
            <a:endParaRPr lang="en-US" dirty="0"/>
          </a:p>
        </p:txBody>
      </p:sp>
    </p:spTree>
    <p:extLst>
      <p:ext uri="{E791D5F0-FCE4-45B8-828D-F7D7E855498A}">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2">
            <a:extLst>
              <a:ext uri="{2A124749-B5E7-4428-BF59-41C47B6A612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8CFA2DB-E1A9-463A-BC5A-35A8CCF5293E}"/>
              </a:ext>
            </a:extLst>
          </p:cNvPr>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3" name="Date Placeholder 2">
            <a:extLst>
              <a:ext uri="{E7A761B9-81CB-49B2-8BE6-983B6B07B3D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F471AC3-982D-4B96-9E59-D3B6F74D9039}"/>
              </a:ext>
            </a:extLst>
          </p:cNvPr>
          <p:cNvSpPr>
            <a:spLocks noGrp="1"/>
          </p:cNvSpPr>
          <p:nvPr>
            <p:ph type="dt" sz="half" idx="10"/>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E761D253-940C-44B0-8F51-8C8A37AEAF73}" type="datetime1">
              <a:rPr lang="en-US" smtClean="0"/>
              <a:t>10/29/2026</a:t>
            </a:fld>
            <a:endParaRPr lang="en-US" dirty="0"/>
          </a:p>
        </p:txBody>
      </p:sp>
      <p:sp>
        <p:nvSpPr>
          <p:cNvPr id="4" name="Footer Placeholder 3">
            <a:extLst>
              <a:ext uri="{7A687B93-B742-4FC6-AC3F-36C63D4DF72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5844C2E-6153-4C88-A824-95DE18C30385}"/>
              </a:ext>
            </a:extLst>
          </p:cNvPr>
          <p:cNvSpPr>
            <a:spLocks noGrp="1"/>
          </p:cNvSpPr>
          <p:nvPr>
            <p:ph type="ftr" sz="quarter" idx="11"/>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a:t>PBL Course Name: Object Oriented Programming through C++(2501CS08)     REVIEW-1</a:t>
            </a:r>
            <a:endParaRPr lang="en-US" dirty="0"/>
          </a:p>
        </p:txBody>
      </p:sp>
      <p:sp>
        <p:nvSpPr>
          <p:cNvPr id="5" name="Slide Number Placeholder 3">
            <a:extLst>
              <a:ext uri="{A59E037D-D639-4F65-9477-94A0EBCDC4E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C0A76B5-951D-4394-8F2D-A4E34AC06D08}"/>
              </a:ext>
            </a:extLst>
          </p:cNvPr>
          <p:cNvSpPr>
            <a:spLocks noGrp="1"/>
          </p:cNvSpPr>
          <p:nvPr>
            <p:ph type="sldNum" sz="quarter" idx="12"/>
          </p:nvPr>
        </p:nvSpPr>
        <p:spPr>
          <a:xfrm>
            <a:off x="10272464" y="6356350"/>
            <a:ext cx="1081336" cy="365125"/>
          </a:xfrm>
        </p:spPr>
        <p:txBody>
          <a:bodyPr rtlCol="0"/>
          <a:lstStyle/>
          <a:p>
            <a:fld id="{D9C5B093-D3DD-4808-813A-F58BF8E67773}" type="slidenum">
              <a:t>‹#›</a:t>
            </a:fld>
            <a:endParaRPr lang="en-US" dirty="0"/>
          </a:p>
        </p:txBody>
      </p:sp>
    </p:spTree>
    <p:extLst>
      <p:ext uri="{917857EF-1D39-4225-A829-037EB1D2793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Ref idx="1001">
        <a:schemeClr val="bg1"/>
      </p:bgRef>
    </p:bg>
    <p:spTree>
      <p:nvGrpSpPr>
        <p:cNvPr id="1" name=""/>
        <p:cNvGrpSpPr/>
        <p:nvPr/>
      </p:nvGrpSpPr>
      <p:grpSpPr>
        <a:xfrm>
          <a:off x="0" y="0"/>
          <a:ext cx="0" cy="0"/>
          <a:chOff x="0" y="0"/>
          <a:chExt cx="0" cy="0"/>
        </a:xfrm>
      </p:grpSpPr>
      <p:sp>
        <p:nvSpPr>
          <p:cNvPr id="2" name="Title Placeholder 1">
            <a:extLst>
              <a:ext uri="{48EA39CE-E158-4B2A-99CD-545B14A22D3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313CDBB-BA82-4DED-973B-07A500BC5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76CEBE57-5AC2-4233-9D99-CAE469A4C85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438A3C5-0C27-48D9-9FD4-D716863017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5757E326-5F3E-43A1-830E-27FE2CE96B3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1FB99B2-34CB-4F0C-AABD-9CC4327C4B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lvl="0" algn="l">
              <a:defRPr lang="en-US" sz="1200" dirty="0">
                <a:solidFill>
                  <a:schemeClr val="tx1">
                    <a:tint val="75000"/>
                  </a:schemeClr>
                </a:solidFill>
              </a:defRPr>
            </a:lvl1pPr>
          </a:lstStyle>
          <a:p>
            <a:fld id="{022B5FF2-DAF6-4310-9A1D-797D39C1E342}" type="datetime1">
              <a:rPr lang="en-US" smtClean="0"/>
              <a:t>10/29/2026</a:t>
            </a:fld>
            <a:endParaRPr lang="en-US" dirty="0"/>
          </a:p>
        </p:txBody>
      </p:sp>
      <p:sp>
        <p:nvSpPr>
          <p:cNvPr id="5" name="Footer Placeholder 4">
            <a:extLst>
              <a:ext uri="{71906065-35B4-4935-A9D1-FD668DE1E59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7A5B885-A2DA-46BA-BC42-719D5CA3E2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lvl="0" algn="ctr">
              <a:defRPr lang="en-US" sz="1200" dirty="0">
                <a:solidFill>
                  <a:schemeClr val="tx1">
                    <a:tint val="75000"/>
                  </a:schemeClr>
                </a:solidFill>
              </a:defRPr>
            </a:lvl1pPr>
          </a:lstStyle>
          <a:p>
            <a:r>
              <a:rPr lang="en-US"/>
              <a:t>PBL Course Name: Object Oriented Programming through C++(2501CS08)     REVIEW-1</a:t>
            </a:r>
            <a:endParaRPr lang="en-US" dirty="0"/>
          </a:p>
        </p:txBody>
      </p:sp>
      <p:sp>
        <p:nvSpPr>
          <p:cNvPr id="6" name="Slide Number Placeholder 5">
            <a:extLst>
              <a:ext uri="{35F2950A-B1CB-4727-AB58-367C2C82CEA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979ABAE-2F0E-462F-935B-AC49E1A2F7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lvl="0" algn="r">
              <a:defRPr lang="en-US" sz="1200" dirty="0">
                <a:solidFill>
                  <a:schemeClr val="tx1">
                    <a:tint val="75000"/>
                  </a:schemeClr>
                </a:solidFill>
              </a:defRPr>
            </a:lvl1pPr>
          </a:lstStyle>
          <a:p>
            <a:fld id="{C0FA9481-3A84-418C-9FCC-1F8C2D158F80}" type="slidenum">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p:txStyles>
    <p:titleStyle>
      <a:lvl1pPr lvl="0" algn="l" rtl="0">
        <a:lnSpc>
          <a:spcPct val="90000"/>
        </a:lnSpc>
        <a:spcBef>
          <a:spcPct val="0"/>
        </a:spcBef>
        <a:buNone/>
        <a:defRPr lang="en-US" sz="4400" dirty="0">
          <a:solidFill>
            <a:schemeClr val="tx1"/>
          </a:solidFill>
          <a:latin typeface="+mj-lt"/>
        </a:defRPr>
      </a:lvl1pPr>
    </p:titleStyle>
    <p:bodyStyle>
      <a:lvl1pPr marL="228600" lvl="0" indent="-228600" algn="l" rtl="0">
        <a:lnSpc>
          <a:spcPct val="90000"/>
        </a:lnSpc>
        <a:spcBef>
          <a:spcPts val="1000"/>
        </a:spcBef>
        <a:buChar char="•"/>
        <a:defRPr lang="en-US" sz="2800" dirty="0">
          <a:solidFill>
            <a:schemeClr val="tx1"/>
          </a:solidFill>
          <a:latin typeface="+mn-lt"/>
        </a:defRPr>
      </a:lvl1pPr>
      <a:lvl2pPr marL="685800" lvl="1" indent="-228600" algn="l" rtl="0">
        <a:lnSpc>
          <a:spcPct val="90000"/>
        </a:lnSpc>
        <a:spcBef>
          <a:spcPts val="500"/>
        </a:spcBef>
        <a:buChar char="•"/>
        <a:defRPr lang="en-US" sz="2400" dirty="0">
          <a:solidFill>
            <a:schemeClr val="tx1"/>
          </a:solidFill>
          <a:latin typeface="+mn-lt"/>
        </a:defRPr>
      </a:lvl2pPr>
      <a:lvl3pPr marL="1143000" lvl="2" indent="-228600" algn="l" rtl="0">
        <a:lnSpc>
          <a:spcPct val="90000"/>
        </a:lnSpc>
        <a:spcBef>
          <a:spcPts val="500"/>
        </a:spcBef>
        <a:buChar char="•"/>
        <a:defRPr lang="en-US" sz="2000" dirty="0">
          <a:solidFill>
            <a:schemeClr val="tx1"/>
          </a:solidFill>
          <a:latin typeface="+mn-lt"/>
        </a:defRPr>
      </a:lvl3pPr>
      <a:lvl4pPr marL="1600200" lvl="3" indent="-228600" algn="l" rtl="0">
        <a:lnSpc>
          <a:spcPct val="90000"/>
        </a:lnSpc>
        <a:spcBef>
          <a:spcPts val="500"/>
        </a:spcBef>
        <a:buChar char="•"/>
        <a:defRPr lang="en-US" sz="1800" dirty="0">
          <a:solidFill>
            <a:schemeClr val="tx1"/>
          </a:solidFill>
          <a:latin typeface="+mn-lt"/>
        </a:defRPr>
      </a:lvl4pPr>
      <a:lvl5pPr marL="2057400" lvl="4" indent="-228600" algn="l" rtl="0">
        <a:lnSpc>
          <a:spcPct val="90000"/>
        </a:lnSpc>
        <a:spcBef>
          <a:spcPts val="500"/>
        </a:spcBef>
        <a:buChar char="•"/>
        <a:defRPr lang="en-US" sz="1800" dirty="0">
          <a:solidFill>
            <a:schemeClr val="tx1"/>
          </a:solidFill>
          <a:latin typeface="+mn-lt"/>
        </a:defRPr>
      </a:lvl5pPr>
      <a:lvl6pPr marL="2514600" lvl="5" indent="-228600" algn="l" rtl="0">
        <a:lnSpc>
          <a:spcPct val="90000"/>
        </a:lnSpc>
        <a:spcBef>
          <a:spcPts val="500"/>
        </a:spcBef>
        <a:buChar char="•"/>
        <a:defRPr lang="en-US" sz="1800" dirty="0">
          <a:solidFill>
            <a:schemeClr val="tx1"/>
          </a:solidFill>
          <a:latin typeface="+mn-lt"/>
        </a:defRPr>
      </a:lvl6pPr>
      <a:lvl7pPr marL="2971800" lvl="6" indent="-228600" algn="l" rtl="0">
        <a:lnSpc>
          <a:spcPct val="90000"/>
        </a:lnSpc>
        <a:spcBef>
          <a:spcPts val="500"/>
        </a:spcBef>
        <a:buChar char="•"/>
        <a:defRPr lang="en-US" sz="1800" dirty="0">
          <a:solidFill>
            <a:schemeClr val="tx1"/>
          </a:solidFill>
          <a:latin typeface="+mn-lt"/>
        </a:defRPr>
      </a:lvl7pPr>
      <a:lvl8pPr marL="3429000" lvl="7" indent="-228600" algn="l" rtl="0">
        <a:lnSpc>
          <a:spcPct val="90000"/>
        </a:lnSpc>
        <a:spcBef>
          <a:spcPts val="500"/>
        </a:spcBef>
        <a:buChar char="•"/>
        <a:defRPr lang="en-US" sz="1800" dirty="0">
          <a:solidFill>
            <a:schemeClr val="tx1"/>
          </a:solidFill>
          <a:latin typeface="+mn-lt"/>
        </a:defRPr>
      </a:lvl8pPr>
      <a:lvl9pPr marL="3886200" lvl="8" indent="-228600" algn="l" rtl="0">
        <a:lnSpc>
          <a:spcPct val="90000"/>
        </a:lnSpc>
        <a:spcBef>
          <a:spcPts val="500"/>
        </a:spcBef>
        <a:buChar char="•"/>
        <a:defRPr lang="en-US" sz="1800" dirty="0">
          <a:solidFill>
            <a:schemeClr val="tx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pexels.com/photo/thank-you-signage-2072165/" TargetMode="External"/><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chemeClr val="bg1"/>
        </a:solidFill>
        <a:effectLst/>
      </p:bgPr>
    </p:bg>
    <p:spTree>
      <p:nvGrpSpPr>
        <p:cNvPr id="1" name=""/>
        <p:cNvGrpSpPr/>
        <p:nvPr/>
      </p:nvGrpSpPr>
      <p:grpSpPr>
        <a:xfrm>
          <a:off x="0" y="0"/>
          <a:ext cx="0" cy="0"/>
          <a:chOff x="0" y="0"/>
          <a:chExt cx="0" cy="0"/>
        </a:xfrm>
      </p:grpSpPr>
      <p:sp>
        <p:nvSpPr>
          <p:cNvPr id="2" name="Title 1">
            <a:extLst>
              <a:ext uri="{5173A155-D39B-4A4B-8D04-AEDF7C74512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5635022-F8A5-4229-B18F-290C3D3C64FB}"/>
              </a:ext>
            </a:extLst>
          </p:cNvPr>
          <p:cNvSpPr txBox="1"/>
          <p:nvPr/>
        </p:nvSpPr>
        <p:spPr>
          <a:xfrm>
            <a:off x="1055440" y="1700808"/>
            <a:ext cx="10696612" cy="1944216"/>
          </a:xfrm>
          <a:prstGeom prst="rect">
            <a:avLst/>
          </a:prstGeom>
        </p:spPr>
        <p:txBody>
          <a:bodyPr vert="horz" lIns="91440" tIns="45720" rIns="91440" bIns="45720" rtlCol="0" anchor="b">
            <a:noAutofit/>
          </a:bodyPr>
          <a:lstStyle/>
          <a:p>
            <a:pPr lvl="0" algn="ctr">
              <a:lnSpc>
                <a:spcPct val="90000"/>
              </a:lnSpc>
              <a:spcBef>
                <a:spcPct val="0"/>
              </a:spcBef>
            </a:pPr>
            <a:endParaRPr lang="en-US" sz="4000" dirty="0">
              <a:solidFill>
                <a:srgbClr val="00B050"/>
              </a:solidFill>
              <a:latin typeface="Arial Rounded MT Bold"/>
            </a:endParaRPr>
          </a:p>
        </p:txBody>
      </p:sp>
      <p:sp>
        <p:nvSpPr>
          <p:cNvPr id="3" name="Title 1">
            <a:extLst>
              <a:ext uri="{64856C8F-7DB4-4507-9010-97CF4AE55C3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2140DA9-F832-465D-86DE-FEB6803F3756}"/>
              </a:ext>
            </a:extLst>
          </p:cNvPr>
          <p:cNvSpPr txBox="1"/>
          <p:nvPr/>
        </p:nvSpPr>
        <p:spPr>
          <a:xfrm>
            <a:off x="-18826" y="2047099"/>
            <a:ext cx="10696612" cy="1575792"/>
          </a:xfrm>
          <a:prstGeom prst="rect">
            <a:avLst/>
          </a:prstGeom>
        </p:spPr>
        <p:txBody>
          <a:bodyPr vert="horz" lIns="91440" tIns="45720" rIns="91440" bIns="45720" rtlCol="0" anchor="b">
            <a:noAutofit/>
          </a:bodyPr>
          <a:lstStyle/>
          <a:p>
            <a:pPr lvl="0" algn="ctr">
              <a:lnSpc>
                <a:spcPct val="90000"/>
              </a:lnSpc>
              <a:spcBef>
                <a:spcPct val="0"/>
              </a:spcBef>
            </a:pPr>
            <a:r>
              <a:rPr lang="en-GB" sz="4000" dirty="0">
                <a:solidFill>
                  <a:srgbClr val="0000FF"/>
                </a:solidFill>
                <a:latin typeface="Aharoni" panose="02010803020104030203" pitchFamily="2" charset="-79"/>
                <a:cs typeface="Aharoni" panose="02010803020104030203" pitchFamily="2" charset="-79"/>
              </a:rPr>
              <a:t>       </a:t>
            </a:r>
            <a:r>
              <a:rPr lang="en-GB" sz="4800" b="1" dirty="0">
                <a:solidFill>
                  <a:schemeClr val="accent5">
                    <a:lumMod val="50000"/>
                  </a:schemeClr>
                </a:solidFill>
                <a:latin typeface="Times New Roman" panose="02020603050405020304" pitchFamily="18" charset="0"/>
                <a:ea typeface="Artifakt Element Light" panose="020B0303050000020004" pitchFamily="34" charset="0"/>
                <a:cs typeface="Times New Roman" panose="02020603050405020304" pitchFamily="18" charset="0"/>
              </a:rPr>
              <a:t>student record manager</a:t>
            </a:r>
          </a:p>
          <a:p>
            <a:pPr lvl="0" algn="ctr">
              <a:lnSpc>
                <a:spcPct val="90000"/>
              </a:lnSpc>
              <a:spcBef>
                <a:spcPct val="0"/>
              </a:spcBef>
            </a:pPr>
            <a:endParaRPr lang="en-IN" sz="2800" dirty="0">
              <a:solidFill>
                <a:srgbClr val="C00000"/>
              </a:solidFill>
            </a:endParaRPr>
          </a:p>
          <a:p>
            <a:pPr lvl="0" algn="ctr">
              <a:lnSpc>
                <a:spcPct val="90000"/>
              </a:lnSpc>
              <a:spcBef>
                <a:spcPct val="0"/>
              </a:spcBef>
            </a:pPr>
            <a:endParaRPr lang="en-US" sz="2800" dirty="0">
              <a:solidFill>
                <a:srgbClr val="C00000"/>
              </a:solidFill>
              <a:latin typeface="Aharoni" panose="02010803020104030203" pitchFamily="2" charset="-79"/>
              <a:cs typeface="Aharoni" panose="02010803020104030203" pitchFamily="2" charset="-79"/>
            </a:endParaRPr>
          </a:p>
        </p:txBody>
      </p:sp>
      <p:sp>
        <p:nvSpPr>
          <p:cNvPr id="4" name="Title 1">
            <a:extLst>
              <a:ext uri="{FF2B5EF4-FFF2-40B4-BE49-F238E27FC236}">
                <a16:creationId xmlns:a16="http://schemas.microsoft.com/office/drawing/2014/main" id="{BB2A8C70-3A77-94EC-FC3D-FDF5B598157E}"/>
              </a:ext>
              <a:ext uri="{20663F85-F48B-43E1-96BA-3B1BE53937F7}">
                <a16:creationId xmlns:lc="http://schemas.openxmlformats.org/drawingml/2006/lockedCanvas"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082DE41-6288-42A5-A437-B3C890B5FD67}"/>
              </a:ext>
            </a:extLst>
          </p:cNvPr>
          <p:cNvSpPr txBox="1"/>
          <p:nvPr/>
        </p:nvSpPr>
        <p:spPr>
          <a:xfrm>
            <a:off x="533400" y="3294226"/>
            <a:ext cx="10696612" cy="2070254"/>
          </a:xfrm>
          <a:prstGeom prst="rect">
            <a:avLst/>
          </a:prstGeom>
        </p:spPr>
        <p:txBody>
          <a:bodyPr vert="horz" lIns="91440" tIns="45720" rIns="91440" bIns="45720" rtlCol="0" anchor="b">
            <a:noAutofit/>
          </a:bodyPr>
          <a:ls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a:lstStyle>
          <a:p>
            <a:pPr lvl="0">
              <a:lnSpc>
                <a:spcPct val="90000"/>
              </a:lnSpc>
              <a:spcBef>
                <a:spcPct val="0"/>
              </a:spcBef>
            </a:pPr>
            <a:r>
              <a:rPr lang="en-US" sz="3200" dirty="0">
                <a:solidFill>
                  <a:srgbClr val="FF0000"/>
                </a:solidFill>
                <a:latin typeface="Times New Roman" panose="02020603050405020304" pitchFamily="18" charset="0"/>
                <a:cs typeface="Times New Roman" panose="02020603050405020304" pitchFamily="18" charset="0"/>
              </a:rPr>
              <a:t>Course Instructor:                              Presented by:</a:t>
            </a:r>
            <a:endParaRPr lang="en-US" dirty="0">
              <a:solidFill>
                <a:srgbClr val="0000FF"/>
              </a:solidFill>
              <a:latin typeface="Times New Roman" panose="02020603050405020304" pitchFamily="18" charset="0"/>
              <a:cs typeface="Times New Roman" panose="02020603050405020304" pitchFamily="18" charset="0"/>
            </a:endParaRPr>
          </a:p>
          <a:p>
            <a:pPr lvl="0">
              <a:lnSpc>
                <a:spcPct val="90000"/>
              </a:lnSpc>
              <a:spcBef>
                <a:spcPct val="0"/>
              </a:spcBef>
            </a:pPr>
            <a:r>
              <a:rPr lang="en-US" dirty="0">
                <a:solidFill>
                  <a:srgbClr val="0000FF"/>
                </a:solidFill>
                <a:latin typeface="Times New Roman" panose="02020603050405020304" pitchFamily="18" charset="0"/>
                <a:cs typeface="Times New Roman" panose="02020603050405020304" pitchFamily="18" charset="0"/>
              </a:rPr>
              <a:t>N.AKHILA, </a:t>
            </a:r>
            <a:r>
              <a:rPr lang="en-US" dirty="0" err="1">
                <a:solidFill>
                  <a:srgbClr val="0000FF"/>
                </a:solidFill>
                <a:latin typeface="Times New Roman" panose="02020603050405020304" pitchFamily="18" charset="0"/>
                <a:cs typeface="Times New Roman" panose="02020603050405020304" pitchFamily="18" charset="0"/>
              </a:rPr>
              <a:t>M.Tech</a:t>
            </a:r>
            <a:r>
              <a:rPr lang="en-US" dirty="0">
                <a:solidFill>
                  <a:srgbClr val="0000FF"/>
                </a:solidFill>
                <a:latin typeface="Times New Roman" panose="02020603050405020304" pitchFamily="18" charset="0"/>
                <a:cs typeface="Times New Roman" panose="02020603050405020304" pitchFamily="18" charset="0"/>
              </a:rPr>
              <a:t>  (</a:t>
            </a:r>
            <a:r>
              <a:rPr lang="en-US" dirty="0" err="1">
                <a:solidFill>
                  <a:srgbClr val="0000FF"/>
                </a:solidFill>
                <a:latin typeface="Times New Roman" panose="02020603050405020304" pitchFamily="18" charset="0"/>
                <a:cs typeface="Times New Roman" panose="02020603050405020304" pitchFamily="18" charset="0"/>
              </a:rPr>
              <a:t>Ph.D</a:t>
            </a:r>
            <a:r>
              <a:rPr lang="en-US" dirty="0">
                <a:solidFill>
                  <a:srgbClr val="0000FF"/>
                </a:solidFill>
                <a:latin typeface="Times New Roman" panose="02020603050405020304" pitchFamily="18" charset="0"/>
                <a:cs typeface="Times New Roman" panose="02020603050405020304" pitchFamily="18" charset="0"/>
              </a:rPr>
              <a:t>),</a:t>
            </a:r>
            <a:r>
              <a:rPr lang="en-US" sz="3600" b="1" dirty="0">
                <a:solidFill>
                  <a:srgbClr val="0000FF"/>
                </a:solidFill>
                <a:latin typeface="Times New Roman" panose="02020603050405020304" pitchFamily="18" charset="0"/>
                <a:cs typeface="Times New Roman" panose="02020603050405020304" pitchFamily="18" charset="0"/>
              </a:rPr>
              <a:t>	                               			</a:t>
            </a:r>
          </a:p>
          <a:p>
            <a:pPr lvl="0">
              <a:lnSpc>
                <a:spcPct val="90000"/>
              </a:lnSpc>
              <a:spcBef>
                <a:spcPct val="0"/>
              </a:spcBef>
            </a:pPr>
            <a:r>
              <a:rPr lang="en-US" dirty="0">
                <a:solidFill>
                  <a:srgbClr val="0000FF"/>
                </a:solidFill>
                <a:latin typeface="Times New Roman" panose="02020603050405020304" pitchFamily="18" charset="0"/>
                <a:cs typeface="Times New Roman" panose="02020603050405020304" pitchFamily="18" charset="0"/>
              </a:rPr>
              <a:t>ASSISTANT PROFESSOR, </a:t>
            </a:r>
            <a:endParaRPr lang="en-US" sz="3600" dirty="0">
              <a:solidFill>
                <a:srgbClr val="0000FF"/>
              </a:solidFill>
              <a:latin typeface="Times New Roman" panose="02020603050405020304" pitchFamily="18" charset="0"/>
              <a:cs typeface="Times New Roman" panose="02020603050405020304" pitchFamily="18" charset="0"/>
            </a:endParaRPr>
          </a:p>
          <a:p>
            <a:pPr lvl="0">
              <a:lnSpc>
                <a:spcPct val="90000"/>
              </a:lnSpc>
              <a:spcBef>
                <a:spcPct val="0"/>
              </a:spcBef>
            </a:pPr>
            <a:r>
              <a:rPr lang="en-US" dirty="0">
                <a:solidFill>
                  <a:srgbClr val="0000FF"/>
                </a:solidFill>
                <a:latin typeface="Times New Roman" panose="02020603050405020304" pitchFamily="18" charset="0"/>
                <a:cs typeface="Times New Roman" panose="02020603050405020304" pitchFamily="18" charset="0"/>
              </a:rPr>
              <a:t>AIML DEPTARTMENT</a:t>
            </a:r>
          </a:p>
        </p:txBody>
      </p:sp>
      <p:graphicFrame>
        <p:nvGraphicFramePr>
          <p:cNvPr id="6" name="Table 5">
            <a:extLst>
              <a:ext uri="{FF2B5EF4-FFF2-40B4-BE49-F238E27FC236}">
                <a16:creationId xmlns:a16="http://schemas.microsoft.com/office/drawing/2014/main" id="{C7F159A1-205A-9A84-5F29-BAC09BFFE55A}"/>
              </a:ext>
            </a:extLst>
          </p:cNvPr>
          <p:cNvGraphicFramePr>
            <a:graphicFrameLocks noGrp="1"/>
          </p:cNvGraphicFramePr>
          <p:nvPr>
            <p:extLst>
              <p:ext uri="{D42A27DB-BD31-4B8C-83A1-F6EECF244321}">
                <p14:modId xmlns:p14="http://schemas.microsoft.com/office/powerpoint/2010/main" val="3314589485"/>
              </p:ext>
            </p:extLst>
          </p:nvPr>
        </p:nvGraphicFramePr>
        <p:xfrm>
          <a:off x="6403746" y="4419600"/>
          <a:ext cx="4927600" cy="1280160"/>
        </p:xfrm>
        <a:graphic>
          <a:graphicData uri="http://schemas.openxmlformats.org/drawingml/2006/table">
            <a:tbl>
              <a:tblPr>
                <a:tableStyleId>{2D5ABB26-0587-4C30-8999-92F81FD0307C}</a:tableStyleId>
              </a:tblPr>
              <a:tblGrid>
                <a:gridCol w="1465244">
                  <a:extLst>
                    <a:ext uri="{9D8B030D-6E8A-4147-A177-3AD203B41FA5}">
                      <a16:colId xmlns:a16="http://schemas.microsoft.com/office/drawing/2014/main" val="4008646060"/>
                    </a:ext>
                  </a:extLst>
                </a:gridCol>
                <a:gridCol w="3462356">
                  <a:extLst>
                    <a:ext uri="{9D8B030D-6E8A-4147-A177-3AD203B41FA5}">
                      <a16:colId xmlns:a16="http://schemas.microsoft.com/office/drawing/2014/main" val="4177372121"/>
                    </a:ext>
                  </a:extLst>
                </a:gridCol>
              </a:tblGrid>
              <a:tr h="320040">
                <a:tc>
                  <a:txBody>
                    <a:bodyPr/>
                    <a:lstStyle/>
                    <a:p>
                      <a:pPr algn="ctr" fontAlgn="ctr">
                        <a:buNone/>
                      </a:pPr>
                      <a:r>
                        <a:rPr lang="en-IN" sz="1600" b="0" i="0" u="none" strike="noStrike" dirty="0">
                          <a:solidFill>
                            <a:srgbClr val="0000FF"/>
                          </a:solidFill>
                          <a:effectLst/>
                          <a:latin typeface="Times New Roman" panose="02020603050405020304" pitchFamily="18" charset="0"/>
                          <a:cs typeface="Times New Roman" panose="02020603050405020304" pitchFamily="18" charset="0"/>
                        </a:rPr>
                        <a:t>25B11AI057</a:t>
                      </a:r>
                      <a:r>
                        <a:rPr lang="en-IN" sz="1600" b="1" i="0" u="none" strike="noStrike" dirty="0">
                          <a:solidFill>
                            <a:srgbClr val="0000FF"/>
                          </a:solidFill>
                          <a:effectLst/>
                          <a:latin typeface="Times New Roman" panose="02020603050405020304" pitchFamily="18" charset="0"/>
                          <a:cs typeface="Times New Roman" panose="02020603050405020304" pitchFamily="18" charset="0"/>
                        </a:rPr>
                        <a:t>    </a:t>
                      </a:r>
                    </a:p>
                  </a:txBody>
                  <a:tcPr marL="6350" marR="6350" marT="6350" anchor="ctr"/>
                </a:tc>
                <a:tc>
                  <a:txBody>
                    <a:bodyPr/>
                    <a:lstStyle/>
                    <a:p>
                      <a:pPr algn="l" fontAlgn="ctr">
                        <a:buNone/>
                      </a:pPr>
                      <a:r>
                        <a:rPr lang="en-US" sz="1600" b="1" i="0" u="none" strike="noStrike" dirty="0">
                          <a:solidFill>
                            <a:srgbClr val="0000FF"/>
                          </a:solidFill>
                          <a:effectLst/>
                          <a:latin typeface="Times New Roman" panose="02020603050405020304" pitchFamily="18" charset="0"/>
                          <a:cs typeface="Times New Roman" panose="02020603050405020304" pitchFamily="18" charset="0"/>
                        </a:rPr>
                        <a:t> </a:t>
                      </a:r>
                      <a:r>
                        <a:rPr lang="en-US" sz="1600" b="0" i="0" u="none" strike="noStrike" dirty="0">
                          <a:solidFill>
                            <a:srgbClr val="0000FF"/>
                          </a:solidFill>
                          <a:effectLst/>
                          <a:latin typeface="Times New Roman" panose="02020603050405020304" pitchFamily="18" charset="0"/>
                          <a:cs typeface="Times New Roman" panose="02020603050405020304" pitchFamily="18" charset="0"/>
                        </a:rPr>
                        <a:t>ANYAM YUVA TEJA SRI</a:t>
                      </a:r>
                      <a:endParaRPr lang="en-IN" sz="1600" b="0" i="0" u="none" strike="noStrike" dirty="0">
                        <a:solidFill>
                          <a:srgbClr val="0000FF"/>
                        </a:solidFill>
                        <a:effectLst/>
                        <a:latin typeface="Times New Roman" panose="02020603050405020304" pitchFamily="18" charset="0"/>
                        <a:cs typeface="Times New Roman" panose="02020603050405020304" pitchFamily="18" charset="0"/>
                      </a:endParaRPr>
                    </a:p>
                  </a:txBody>
                  <a:tcPr marL="6350" marR="6350" marT="6350" anchor="ctr"/>
                </a:tc>
                <a:extLst>
                  <a:ext uri="{0D108BD9-81ED-4DB2-BD59-A6C34878D82A}">
                    <a16:rowId xmlns:a16="http://schemas.microsoft.com/office/drawing/2014/main" val="4029920218"/>
                  </a:ext>
                </a:extLst>
              </a:tr>
              <a:tr h="320040">
                <a:tc>
                  <a:txBody>
                    <a:bodyPr/>
                    <a:lstStyle/>
                    <a:p>
                      <a:pPr algn="ctr" fontAlgn="ctr">
                        <a:buNone/>
                      </a:pPr>
                      <a:r>
                        <a:rPr lang="en-IN" sz="1600" b="0" i="0" u="none" strike="noStrike" dirty="0">
                          <a:solidFill>
                            <a:srgbClr val="0000FF"/>
                          </a:solidFill>
                          <a:effectLst/>
                          <a:latin typeface="Times New Roman" panose="02020603050405020304" pitchFamily="18" charset="0"/>
                          <a:cs typeface="Times New Roman" panose="02020603050405020304" pitchFamily="18" charset="0"/>
                        </a:rPr>
                        <a:t>25B11AI164</a:t>
                      </a:r>
                    </a:p>
                  </a:txBody>
                  <a:tcPr marL="6350" marR="6350" marT="6350" anchor="ctr"/>
                </a:tc>
                <a:tc>
                  <a:txBody>
                    <a:bodyPr/>
                    <a:lstStyle/>
                    <a:p>
                      <a:pPr algn="l" fontAlgn="ctr">
                        <a:buNone/>
                      </a:pPr>
                      <a:r>
                        <a:rPr lang="en-US" sz="1600" b="0" i="0" u="none" strike="noStrike" dirty="0">
                          <a:solidFill>
                            <a:srgbClr val="0000FF"/>
                          </a:solidFill>
                          <a:effectLst/>
                          <a:latin typeface="Times New Roman" panose="02020603050405020304" pitchFamily="18" charset="0"/>
                          <a:cs typeface="Times New Roman" panose="02020603050405020304" pitchFamily="18" charset="0"/>
                        </a:rPr>
                        <a:t>BURRA BOBBY </a:t>
                      </a:r>
                      <a:endParaRPr lang="en-IN" sz="1600" b="0" i="0" u="none" strike="noStrike" dirty="0">
                        <a:solidFill>
                          <a:srgbClr val="0000FF"/>
                        </a:solidFill>
                        <a:effectLst/>
                        <a:latin typeface="Times New Roman" panose="02020603050405020304" pitchFamily="18" charset="0"/>
                        <a:cs typeface="Times New Roman" panose="02020603050405020304" pitchFamily="18" charset="0"/>
                      </a:endParaRPr>
                    </a:p>
                  </a:txBody>
                  <a:tcPr marL="6350" marR="6350" marT="6350" anchor="ctr"/>
                </a:tc>
                <a:extLst>
                  <a:ext uri="{0D108BD9-81ED-4DB2-BD59-A6C34878D82A}">
                    <a16:rowId xmlns:a16="http://schemas.microsoft.com/office/drawing/2014/main" val="2060361553"/>
                  </a:ext>
                </a:extLst>
              </a:tr>
              <a:tr h="320040">
                <a:tc>
                  <a:txBody>
                    <a:bodyPr/>
                    <a:lstStyle/>
                    <a:p>
                      <a:pPr algn="ctr" fontAlgn="ctr">
                        <a:buNone/>
                      </a:pPr>
                      <a:r>
                        <a:rPr lang="en-IN" sz="1600" b="0" i="0" u="none" strike="noStrike" dirty="0">
                          <a:solidFill>
                            <a:srgbClr val="0000FF"/>
                          </a:solidFill>
                          <a:effectLst/>
                          <a:latin typeface="Times New Roman" panose="02020603050405020304" pitchFamily="18" charset="0"/>
                          <a:cs typeface="Times New Roman" panose="02020603050405020304" pitchFamily="18" charset="0"/>
                        </a:rPr>
                        <a:t>25B11AI292</a:t>
                      </a:r>
                    </a:p>
                  </a:txBody>
                  <a:tcPr marL="6350" marR="6350" marT="6350" anchor="ctr"/>
                </a:tc>
                <a:tc>
                  <a:txBody>
                    <a:bodyPr/>
                    <a:lstStyle/>
                    <a:p>
                      <a:pPr algn="l" fontAlgn="ctr">
                        <a:buNone/>
                      </a:pPr>
                      <a:r>
                        <a:rPr lang="en-US" sz="1600" b="0" i="0" u="none" strike="noStrike" dirty="0">
                          <a:solidFill>
                            <a:srgbClr val="0000FF"/>
                          </a:solidFill>
                          <a:effectLst/>
                          <a:latin typeface="Times New Roman" panose="02020603050405020304" pitchFamily="18" charset="0"/>
                          <a:cs typeface="Times New Roman" panose="02020603050405020304" pitchFamily="18" charset="0"/>
                        </a:rPr>
                        <a:t>EDUPUGANTI TEJASWINI</a:t>
                      </a:r>
                      <a:endParaRPr lang="en-IN" sz="1600" b="0" i="0" u="none" strike="noStrike" dirty="0">
                        <a:solidFill>
                          <a:srgbClr val="0000FF"/>
                        </a:solidFill>
                        <a:effectLst/>
                        <a:latin typeface="Times New Roman" panose="02020603050405020304" pitchFamily="18" charset="0"/>
                        <a:cs typeface="Times New Roman" panose="02020603050405020304" pitchFamily="18" charset="0"/>
                      </a:endParaRPr>
                    </a:p>
                  </a:txBody>
                  <a:tcPr marL="6350" marR="6350" marT="6350" anchor="ctr"/>
                </a:tc>
                <a:extLst>
                  <a:ext uri="{0D108BD9-81ED-4DB2-BD59-A6C34878D82A}">
                    <a16:rowId xmlns:a16="http://schemas.microsoft.com/office/drawing/2014/main" val="2251409142"/>
                  </a:ext>
                </a:extLst>
              </a:tr>
              <a:tr h="320040">
                <a:tc>
                  <a:txBody>
                    <a:bodyPr/>
                    <a:lstStyle/>
                    <a:p>
                      <a:pPr algn="ctr" fontAlgn="ctr">
                        <a:buNone/>
                      </a:pPr>
                      <a:r>
                        <a:rPr lang="en-IN" sz="1600" b="0" i="0" u="none" strike="noStrike" dirty="0">
                          <a:solidFill>
                            <a:srgbClr val="0000FF"/>
                          </a:solidFill>
                          <a:effectLst/>
                          <a:latin typeface="Times New Roman" panose="02020603050405020304" pitchFamily="18" charset="0"/>
                          <a:cs typeface="Times New Roman" panose="02020603050405020304" pitchFamily="18" charset="0"/>
                        </a:rPr>
                        <a:t>25B11AI329</a:t>
                      </a:r>
                    </a:p>
                  </a:txBody>
                  <a:tcPr marL="6350" marR="6350" marT="6350" anchor="ctr"/>
                </a:tc>
                <a:tc>
                  <a:txBody>
                    <a:bodyPr/>
                    <a:lstStyle/>
                    <a:p>
                      <a:pPr algn="l" fontAlgn="ctr">
                        <a:buNone/>
                      </a:pPr>
                      <a:r>
                        <a:rPr lang="en-US" sz="1600" b="0" i="0" u="none" strike="noStrike" dirty="0">
                          <a:solidFill>
                            <a:srgbClr val="0000FF"/>
                          </a:solidFill>
                          <a:effectLst/>
                          <a:latin typeface="Times New Roman" panose="02020603050405020304" pitchFamily="18" charset="0"/>
                          <a:cs typeface="Times New Roman" panose="02020603050405020304" pitchFamily="18" charset="0"/>
                        </a:rPr>
                        <a:t>GARIKIPATI LIKITHA</a:t>
                      </a:r>
                      <a:endParaRPr lang="en-IN" sz="1600" b="0" i="0" u="none" strike="noStrike" dirty="0">
                        <a:solidFill>
                          <a:srgbClr val="0000FF"/>
                        </a:solidFill>
                        <a:effectLst/>
                        <a:latin typeface="Times New Roman" panose="02020603050405020304" pitchFamily="18" charset="0"/>
                        <a:cs typeface="Times New Roman" panose="02020603050405020304" pitchFamily="18" charset="0"/>
                      </a:endParaRPr>
                    </a:p>
                  </a:txBody>
                  <a:tcPr marL="6350" marR="6350" marT="6350" anchor="ctr"/>
                </a:tc>
                <a:extLst>
                  <a:ext uri="{0D108BD9-81ED-4DB2-BD59-A6C34878D82A}">
                    <a16:rowId xmlns:a16="http://schemas.microsoft.com/office/drawing/2014/main" val="3846112601"/>
                  </a:ext>
                </a:extLst>
              </a:tr>
            </a:tbl>
          </a:graphicData>
        </a:graphic>
      </p:graphicFrame>
    </p:spTree>
    <p:extLst>
      <p:ext uri="{59DB2955-81A9-4330-9517-4CB607EFC6F5}">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p:txBody>
          <a:bodyPr>
            <a:normAutofit fontScale="62500" lnSpcReduction="20000"/>
          </a:bodyPr>
          <a:lstStyle/>
          <a:p>
            <a:pPr marL="914400" lvl="0" indent="-4572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Project Abstract </a:t>
            </a:r>
          </a:p>
          <a:p>
            <a:pPr marL="914400" lvl="0" indent="-4572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Problem Statement &amp; Objectives </a:t>
            </a:r>
          </a:p>
          <a:p>
            <a:pPr marL="914400" lvl="0" indent="-4572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Planned Modules / Functions </a:t>
            </a:r>
          </a:p>
          <a:p>
            <a:pPr marL="914400" lvl="0" indent="-4572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Users of the system </a:t>
            </a:r>
          </a:p>
          <a:p>
            <a:pPr marL="914400" lvl="0" indent="-4572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Modules/Functionalities</a:t>
            </a:r>
          </a:p>
          <a:p>
            <a:pPr marL="914400" lvl="0" indent="-45720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Architecture Diagram</a:t>
            </a:r>
          </a:p>
          <a:p>
            <a:pPr marL="914400" lvl="0" indent="-45720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ER Diagram / DFD</a:t>
            </a:r>
          </a:p>
          <a:p>
            <a:pPr marL="914400" lvl="0" indent="-45720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Planning and Timeline Diagram</a:t>
            </a:r>
          </a:p>
          <a:p>
            <a:pPr marL="914400" lvl="0" indent="-45720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Role of each individual</a:t>
            </a: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r>
              <a:rPr lang="en-US" dirty="0"/>
              <a:t>25/08/2026</a:t>
            </a:r>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dirty="0"/>
              <a:t> Course Name: Object Oriented Programming through C++(2501CS08)     REVIEW-1</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2</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3412299" y="304800"/>
            <a:ext cx="5223386" cy="661720"/>
          </a:xfrm>
          <a:prstGeom prst="rect">
            <a:avLst/>
          </a:prstGeom>
          <a:noFill/>
        </p:spPr>
        <p:txBody>
          <a:bodyPr wrap="square">
            <a:spAutoFit/>
          </a:bodyPr>
          <a:lstStyle/>
          <a:p>
            <a:pPr lvl="0" algn="ctr">
              <a:lnSpc>
                <a:spcPct val="90000"/>
              </a:lnSpc>
              <a:spcBef>
                <a:spcPct val="0"/>
              </a:spcBef>
            </a:pPr>
            <a:r>
              <a:rPr lang="en-GB" sz="4000" b="1" dirty="0">
                <a:solidFill>
                  <a:srgbClr val="0000FF"/>
                </a:solidFill>
                <a:latin typeface="Times New Roman" panose="02020603050405020304" pitchFamily="18" charset="0"/>
                <a:cs typeface="Times New Roman" panose="02020603050405020304" pitchFamily="18" charset="0"/>
              </a:rPr>
              <a:t>Contents</a:t>
            </a:r>
          </a:p>
        </p:txBody>
      </p:sp>
    </p:spTree>
    <p:extLst>
      <p:ext uri="{BB962C8B-B14F-4D97-AF65-F5344CB8AC3E}">
        <p14:creationId xmlns:p14="http://schemas.microsoft.com/office/powerpoint/2010/main" val="1780977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609600" y="1584119"/>
            <a:ext cx="10972800" cy="4953000"/>
          </a:xfrm>
        </p:spPr>
        <p:txBody>
          <a:bodyPr>
            <a:normAutofit/>
          </a:bodyPr>
          <a:lstStyle/>
          <a:p>
            <a:pPr algn="just">
              <a:lnSpc>
                <a:spcPct val="150000"/>
              </a:lnSpc>
            </a:pPr>
            <a:r>
              <a:rPr lang="en-IN" sz="2400" dirty="0">
                <a:latin typeface="Times New Roman" panose="02020603050405020304" pitchFamily="18" charset="0"/>
                <a:cs typeface="Times New Roman" panose="02020603050405020304" pitchFamily="18" charset="0"/>
              </a:rPr>
              <a:t>The Student Record Manager is a C++ application designed to efficiently manage and organize student information. It replaces manual record maintenance with a structured, object-oriented software solution. The system allows users to add, update, delete, search, and display student records from a centralized system. It can store details such as student ID, name, branch, year, marks, and contact information. The project applies core OOP principles such as classes, encapsulation, inheritance, and polymorphism to provide a modular and reusable design</a:t>
            </a: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a:xfrm>
            <a:off x="381000" y="6354557"/>
            <a:ext cx="1656183" cy="365125"/>
          </a:xfrm>
        </p:spPr>
        <p:txBody>
          <a:bodyPr/>
          <a:lstStyle/>
          <a:p>
            <a:r>
              <a:rPr lang="en-US" dirty="0"/>
              <a:t>25/08/2026</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3</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3886200" y="433845"/>
            <a:ext cx="5223386" cy="661720"/>
          </a:xfrm>
          <a:prstGeom prst="rect">
            <a:avLst/>
          </a:prstGeom>
          <a:noFill/>
        </p:spPr>
        <p:txBody>
          <a:bodyPr wrap="square">
            <a:spAutoFit/>
          </a:bodyPr>
          <a:lstStyle/>
          <a:p>
            <a:pPr lvl="0" algn="ctr">
              <a:lnSpc>
                <a:spcPct val="90000"/>
              </a:lnSpc>
              <a:spcBef>
                <a:spcPct val="0"/>
              </a:spcBef>
            </a:pPr>
            <a:r>
              <a:rPr lang="en-GB" sz="4000" b="1" dirty="0">
                <a:solidFill>
                  <a:srgbClr val="0000FF"/>
                </a:solidFill>
                <a:latin typeface="Times New Roman" panose="02020603050405020304" pitchFamily="18" charset="0"/>
                <a:cs typeface="Times New Roman" panose="02020603050405020304" pitchFamily="18" charset="0"/>
              </a:rPr>
              <a:t>Project Abstract</a:t>
            </a:r>
          </a:p>
        </p:txBody>
      </p:sp>
    </p:spTree>
    <p:extLst>
      <p:ext uri="{BB962C8B-B14F-4D97-AF65-F5344CB8AC3E}">
        <p14:creationId xmlns:p14="http://schemas.microsoft.com/office/powerpoint/2010/main" val="1780977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869085" y="1447800"/>
            <a:ext cx="10515600" cy="4645495"/>
          </a:xfrm>
        </p:spPr>
        <p:txBody>
          <a:bodyPr>
            <a:normAutofit/>
          </a:bodyPr>
          <a:lstStyle/>
          <a:p>
            <a:pPr>
              <a:lnSpc>
                <a:spcPct val="100000"/>
              </a:lnSpc>
            </a:pPr>
            <a:r>
              <a:rPr lang="en-IN" sz="2200" b="1" dirty="0">
                <a:latin typeface="Times New Roman" panose="02020603050405020304" pitchFamily="18" charset="0"/>
                <a:cs typeface="Times New Roman" panose="02020603050405020304" pitchFamily="18" charset="0"/>
              </a:rPr>
              <a:t>Problem Statement :</a:t>
            </a:r>
          </a:p>
          <a:p>
            <a:pPr>
              <a:lnSpc>
                <a:spcPct val="100000"/>
              </a:lnSpc>
            </a:pPr>
            <a:r>
              <a:rPr lang="en-IN" sz="2200" dirty="0">
                <a:latin typeface="Times New Roman" panose="02020603050405020304" pitchFamily="18" charset="0"/>
                <a:cs typeface="Times New Roman" panose="02020603050405020304" pitchFamily="18" charset="0"/>
              </a:rPr>
              <a:t>Maintaining student records manually can be time-consuming and may result in data duplication, errors, difficulty in searching records, and loss of information.</a:t>
            </a:r>
          </a:p>
          <a:p>
            <a:pPr>
              <a:lnSpc>
                <a:spcPct val="100000"/>
              </a:lnSpc>
            </a:pPr>
            <a:r>
              <a:rPr lang="en-IN" sz="2200" b="1" dirty="0">
                <a:latin typeface="Times New Roman" panose="02020603050405020304" pitchFamily="18" charset="0"/>
                <a:cs typeface="Times New Roman" panose="02020603050405020304" pitchFamily="18" charset="0"/>
              </a:rPr>
              <a:t>Objectives:</a:t>
            </a:r>
          </a:p>
          <a:p>
            <a:pPr marL="914400" lvl="0" indent="-457200">
              <a:lnSpc>
                <a:spcPct val="100000"/>
              </a:lnSpc>
              <a:buFont typeface="+mj-lt"/>
              <a:buAutoNum type="arabicPeriod"/>
            </a:pPr>
            <a:r>
              <a:rPr lang="en-IN" sz="2200" dirty="0">
                <a:latin typeface="Times New Roman" panose="02020603050405020304" pitchFamily="18" charset="0"/>
                <a:cs typeface="Times New Roman" panose="02020603050405020304" pitchFamily="18" charset="0"/>
              </a:rPr>
              <a:t>Provide a centralized system to manage student records. </a:t>
            </a:r>
          </a:p>
          <a:p>
            <a:pPr marL="914400" lvl="0" indent="-457200">
              <a:lnSpc>
                <a:spcPct val="100000"/>
              </a:lnSpc>
              <a:buFont typeface="+mj-lt"/>
              <a:buAutoNum type="arabicPeriod"/>
            </a:pPr>
            <a:r>
              <a:rPr lang="en-IN" sz="2200" dirty="0">
                <a:latin typeface="Times New Roman" panose="02020603050405020304" pitchFamily="18" charset="0"/>
                <a:cs typeface="Times New Roman" panose="02020603050405020304" pitchFamily="18" charset="0"/>
              </a:rPr>
              <a:t>Add and store student information efficiently. </a:t>
            </a:r>
          </a:p>
          <a:p>
            <a:pPr marL="914400" lvl="0" indent="-457200">
              <a:lnSpc>
                <a:spcPct val="100000"/>
              </a:lnSpc>
              <a:buFont typeface="+mj-lt"/>
              <a:buAutoNum type="arabicPeriod"/>
            </a:pPr>
            <a:r>
              <a:rPr lang="en-IN" sz="2200" dirty="0">
                <a:latin typeface="Times New Roman" panose="02020603050405020304" pitchFamily="18" charset="0"/>
                <a:cs typeface="Times New Roman" panose="02020603050405020304" pitchFamily="18" charset="0"/>
              </a:rPr>
              <a:t>Enable searching and viewing of student records. </a:t>
            </a:r>
          </a:p>
          <a:p>
            <a:pPr marL="914400" lvl="0" indent="-457200">
              <a:lnSpc>
                <a:spcPct val="100000"/>
              </a:lnSpc>
              <a:buFont typeface="+mj-lt"/>
              <a:buAutoNum type="arabicPeriod"/>
            </a:pPr>
            <a:r>
              <a:rPr lang="en-IN" sz="2200" dirty="0">
                <a:latin typeface="Times New Roman" panose="02020603050405020304" pitchFamily="18" charset="0"/>
                <a:cs typeface="Times New Roman" panose="02020603050405020304" pitchFamily="18" charset="0"/>
              </a:rPr>
              <a:t>Allow updating and deleting of existing records. </a:t>
            </a:r>
          </a:p>
          <a:p>
            <a:pPr marL="914400" lvl="0" indent="-457200">
              <a:lnSpc>
                <a:spcPct val="100000"/>
              </a:lnSpc>
              <a:buFont typeface="+mj-lt"/>
              <a:buAutoNum type="arabicPeriod"/>
            </a:pPr>
            <a:r>
              <a:rPr lang="en-IN" sz="2200" dirty="0">
                <a:latin typeface="Times New Roman" panose="02020603050405020304" pitchFamily="18" charset="0"/>
                <a:cs typeface="Times New Roman" panose="02020603050405020304" pitchFamily="18" charset="0"/>
              </a:rPr>
              <a:t>Reduce manual errors and duplicate entries. </a:t>
            </a:r>
          </a:p>
          <a:p>
            <a:pPr marL="914400" lvl="0" indent="-457200">
              <a:lnSpc>
                <a:spcPct val="100000"/>
              </a:lnSpc>
              <a:buFont typeface="+mj-lt"/>
              <a:buAutoNum type="arabicPeriod"/>
            </a:pPr>
            <a:r>
              <a:rPr lang="en-IN" sz="2200" dirty="0">
                <a:latin typeface="Times New Roman" panose="02020603050405020304" pitchFamily="18" charset="0"/>
                <a:cs typeface="Times New Roman" panose="02020603050405020304" pitchFamily="18" charset="0"/>
              </a:rPr>
              <a:t>Generate simple student performance reports</a:t>
            </a:r>
            <a:r>
              <a:rPr lang="en-IN" sz="2400" dirty="0">
                <a:latin typeface="Times New Roman" panose="02020603050405020304" pitchFamily="18" charset="0"/>
                <a:cs typeface="Times New Roman" panose="02020603050405020304" pitchFamily="18" charset="0"/>
              </a:rPr>
              <a:t>.</a:t>
            </a:r>
          </a:p>
          <a:p>
            <a:pPr marL="914400" indent="-457200">
              <a:lnSpc>
                <a:spcPct val="150000"/>
              </a:lnSpc>
              <a:buFont typeface="Wingdings" panose="05000000000000000000" pitchFamily="2" charset="2"/>
              <a:buChar char="Ø"/>
            </a:pPr>
            <a:endParaRPr lang="en-IN" b="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r>
              <a:rPr lang="en-US" dirty="0"/>
              <a:t>25/08/2026</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4</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535531"/>
          </a:xfrm>
          <a:prstGeom prst="rect">
            <a:avLst/>
          </a:prstGeom>
          <a:noFill/>
        </p:spPr>
        <p:txBody>
          <a:bodyPr wrap="square">
            <a:spAutoFit/>
          </a:bodyPr>
          <a:lstStyle/>
          <a:p>
            <a:pPr lvl="0" algn="ctr">
              <a:lnSpc>
                <a:spcPct val="90000"/>
              </a:lnSpc>
              <a:spcBef>
                <a:spcPct val="0"/>
              </a:spcBef>
            </a:pPr>
            <a:r>
              <a:rPr lang="en-GB" sz="3200" b="1" dirty="0">
                <a:solidFill>
                  <a:srgbClr val="0000FF"/>
                </a:solidFill>
                <a:latin typeface="Times New Roman" panose="02020603050405020304" pitchFamily="18" charset="0"/>
                <a:cs typeface="Times New Roman" panose="02020603050405020304" pitchFamily="18" charset="0"/>
              </a:rPr>
              <a:t>Problem Statement &amp; Objectives</a:t>
            </a:r>
          </a:p>
        </p:txBody>
      </p:sp>
    </p:spTree>
    <p:extLst>
      <p:ext uri="{BB962C8B-B14F-4D97-AF65-F5344CB8AC3E}">
        <p14:creationId xmlns:p14="http://schemas.microsoft.com/office/powerpoint/2010/main" val="1780977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708847" y="1739282"/>
            <a:ext cx="10515600" cy="4531419"/>
          </a:xfrm>
        </p:spPr>
        <p:txBody>
          <a:bodyPr>
            <a:normAutofit/>
          </a:bodyPr>
          <a:lstStyle/>
          <a:p>
            <a:pPr marL="914400" indent="-457200">
              <a:lnSpc>
                <a:spcPct val="15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Student Management Module</a:t>
            </a:r>
            <a:r>
              <a:rPr lang="en-IN" sz="2200" dirty="0">
                <a:latin typeface="Times New Roman" panose="02020603050405020304" pitchFamily="18" charset="0"/>
                <a:cs typeface="Times New Roman" panose="02020603050405020304" pitchFamily="18" charset="0"/>
              </a:rPr>
              <a:t> – Add, update, delete and display student records. </a:t>
            </a:r>
          </a:p>
          <a:p>
            <a:pPr marL="800100" lvl="0" indent="-342900">
              <a:lnSpc>
                <a:spcPct val="15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 Search Module</a:t>
            </a:r>
            <a:r>
              <a:rPr lang="en-IN" sz="2200" dirty="0">
                <a:latin typeface="Times New Roman" panose="02020603050405020304" pitchFamily="18" charset="0"/>
                <a:cs typeface="Times New Roman" panose="02020603050405020304" pitchFamily="18" charset="0"/>
              </a:rPr>
              <a:t> – Search students using ID, name, or branch. </a:t>
            </a:r>
          </a:p>
          <a:p>
            <a:pPr marL="800100" lvl="0" indent="-342900">
              <a:lnSpc>
                <a:spcPct val="15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 Marks Management Module</a:t>
            </a:r>
            <a:r>
              <a:rPr lang="en-IN" sz="2200" dirty="0">
                <a:latin typeface="Times New Roman" panose="02020603050405020304" pitchFamily="18" charset="0"/>
                <a:cs typeface="Times New Roman" panose="02020603050405020304" pitchFamily="18" charset="0"/>
              </a:rPr>
              <a:t> – Store and update marks or academic details. </a:t>
            </a:r>
          </a:p>
          <a:p>
            <a:pPr marL="800100" lvl="0" indent="-342900">
              <a:lnSpc>
                <a:spcPct val="15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 Record Management Module</a:t>
            </a:r>
            <a:r>
              <a:rPr lang="en-IN" sz="2200" dirty="0">
                <a:latin typeface="Times New Roman" panose="02020603050405020304" pitchFamily="18" charset="0"/>
                <a:cs typeface="Times New Roman" panose="02020603050405020304" pitchFamily="18" charset="0"/>
              </a:rPr>
              <a:t> – Maintain student information systematically. </a:t>
            </a:r>
          </a:p>
          <a:p>
            <a:pPr marL="800100" lvl="0" indent="-342900">
              <a:lnSpc>
                <a:spcPct val="15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 File Handling Module</a:t>
            </a:r>
            <a:r>
              <a:rPr lang="en-IN" sz="2200" dirty="0">
                <a:latin typeface="Times New Roman" panose="02020603050405020304" pitchFamily="18" charset="0"/>
                <a:cs typeface="Times New Roman" panose="02020603050405020304" pitchFamily="18" charset="0"/>
              </a:rPr>
              <a:t> – Store and retrieve student records from files. </a:t>
            </a:r>
          </a:p>
          <a:p>
            <a:pPr marL="800100" lvl="0" indent="-342900">
              <a:lnSpc>
                <a:spcPct val="15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 Report Generation Module</a:t>
            </a:r>
            <a:r>
              <a:rPr lang="en-IN" sz="2200" dirty="0">
                <a:latin typeface="Times New Roman" panose="02020603050405020304" pitchFamily="18" charset="0"/>
                <a:cs typeface="Times New Roman" panose="02020603050405020304" pitchFamily="18" charset="0"/>
              </a:rPr>
              <a:t> – Display student details and performance summaries.</a:t>
            </a:r>
          </a:p>
          <a:p>
            <a:pPr marL="914400" indent="-457200">
              <a:lnSpc>
                <a:spcPct val="150000"/>
              </a:lnSpc>
              <a:buFont typeface="Wingdings" panose="05000000000000000000" pitchFamily="2" charset="2"/>
              <a:buChar char="Ø"/>
            </a:pPr>
            <a:endParaRPr lang="en-IN" sz="2000" b="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r>
              <a:rPr lang="en-US" dirty="0"/>
              <a:t>25/08/2026</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5</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535531"/>
          </a:xfrm>
          <a:prstGeom prst="rect">
            <a:avLst/>
          </a:prstGeom>
          <a:noFill/>
        </p:spPr>
        <p:txBody>
          <a:bodyPr wrap="square">
            <a:spAutoFit/>
          </a:bodyPr>
          <a:lstStyle/>
          <a:p>
            <a:pPr lvl="0" algn="ctr">
              <a:lnSpc>
                <a:spcPct val="90000"/>
              </a:lnSpc>
              <a:spcBef>
                <a:spcPct val="0"/>
              </a:spcBef>
            </a:pPr>
            <a:r>
              <a:rPr lang="en-GB" sz="3200" b="1" dirty="0">
                <a:solidFill>
                  <a:srgbClr val="0000FF"/>
                </a:solidFill>
                <a:latin typeface="Times New Roman" panose="02020603050405020304" pitchFamily="18" charset="0"/>
                <a:cs typeface="Times New Roman" panose="02020603050405020304" pitchFamily="18" charset="0"/>
              </a:rPr>
              <a:t>Planned Modules / Functions</a:t>
            </a:r>
          </a:p>
        </p:txBody>
      </p:sp>
    </p:spTree>
    <p:extLst>
      <p:ext uri="{BB962C8B-B14F-4D97-AF65-F5344CB8AC3E}">
        <p14:creationId xmlns:p14="http://schemas.microsoft.com/office/powerpoint/2010/main" val="1780977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1143000" y="2002114"/>
            <a:ext cx="10515600" cy="4531419"/>
          </a:xfrm>
        </p:spPr>
        <p:txBody>
          <a:bodyPr>
            <a:normAutofit/>
          </a:bodyPr>
          <a:lstStyle/>
          <a:p>
            <a:pPr marL="800100" lvl="0" indent="-342900">
              <a:lnSpc>
                <a:spcPct val="150000"/>
              </a:lnSpc>
              <a:buFont typeface="Wingdings" panose="05000000000000000000" pitchFamily="2" charset="2"/>
              <a:buChar char="Ø"/>
            </a:pPr>
            <a:r>
              <a:rPr lang="en-IN" sz="2400" b="1" dirty="0"/>
              <a:t>Administrator</a:t>
            </a:r>
            <a:r>
              <a:rPr lang="en-IN" sz="2400" dirty="0"/>
              <a:t> – Manages all student records. </a:t>
            </a:r>
          </a:p>
          <a:p>
            <a:pPr marL="800100" lvl="0" indent="-342900">
              <a:lnSpc>
                <a:spcPct val="150000"/>
              </a:lnSpc>
              <a:buFont typeface="Wingdings" panose="05000000000000000000" pitchFamily="2" charset="2"/>
              <a:buChar char="Ø"/>
            </a:pPr>
            <a:r>
              <a:rPr lang="en-IN" sz="2400" b="1" dirty="0"/>
              <a:t>Faculty</a:t>
            </a:r>
            <a:r>
              <a:rPr lang="en-IN" sz="2400" dirty="0"/>
              <a:t> – Adds, updates, and views academic information. </a:t>
            </a:r>
          </a:p>
          <a:p>
            <a:pPr marL="800100" lvl="0" indent="-342900">
              <a:lnSpc>
                <a:spcPct val="150000"/>
              </a:lnSpc>
              <a:buFont typeface="Wingdings" panose="05000000000000000000" pitchFamily="2" charset="2"/>
              <a:buChar char="Ø"/>
            </a:pPr>
            <a:r>
              <a:rPr lang="en-IN" sz="2400" b="1" dirty="0"/>
              <a:t>Students</a:t>
            </a:r>
            <a:r>
              <a:rPr lang="en-IN" sz="2400" dirty="0"/>
              <a:t> – Can view their personal and academic records. </a:t>
            </a:r>
          </a:p>
          <a:p>
            <a:pPr marL="800100" lvl="0" indent="-342900">
              <a:lnSpc>
                <a:spcPct val="150000"/>
              </a:lnSpc>
              <a:buFont typeface="Wingdings" panose="05000000000000000000" pitchFamily="2" charset="2"/>
              <a:buChar char="Ø"/>
            </a:pPr>
            <a:r>
              <a:rPr lang="en-IN" sz="2400" b="1" dirty="0"/>
              <a:t>System Operator</a:t>
            </a:r>
            <a:r>
              <a:rPr lang="en-IN" sz="2400" dirty="0"/>
              <a:t> – Maintains and manages stored data.</a:t>
            </a:r>
          </a:p>
          <a:p>
            <a:pPr marL="914400" indent="-457200">
              <a:lnSpc>
                <a:spcPct val="150000"/>
              </a:lnSpc>
              <a:buFont typeface="Wingdings" panose="05000000000000000000" pitchFamily="2" charset="2"/>
              <a:buChar char="Ø"/>
            </a:pPr>
            <a:endParaRPr lang="en-IN" sz="2300" b="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r>
              <a:rPr lang="en-US" dirty="0"/>
              <a:t>25/08/2026</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6</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535531"/>
          </a:xfrm>
          <a:prstGeom prst="rect">
            <a:avLst/>
          </a:prstGeom>
          <a:noFill/>
        </p:spPr>
        <p:txBody>
          <a:bodyPr wrap="square">
            <a:spAutoFit/>
          </a:bodyPr>
          <a:lstStyle/>
          <a:p>
            <a:pPr lvl="0" algn="ctr">
              <a:lnSpc>
                <a:spcPct val="90000"/>
              </a:lnSpc>
              <a:spcBef>
                <a:spcPct val="0"/>
              </a:spcBef>
            </a:pPr>
            <a:r>
              <a:rPr lang="en-GB" sz="3200" b="1" dirty="0">
                <a:solidFill>
                  <a:srgbClr val="0000FF"/>
                </a:solidFill>
                <a:latin typeface="Times New Roman" panose="02020603050405020304" pitchFamily="18" charset="0"/>
                <a:cs typeface="Times New Roman" panose="02020603050405020304" pitchFamily="18" charset="0"/>
              </a:rPr>
              <a:t>Users of the System</a:t>
            </a:r>
          </a:p>
        </p:txBody>
      </p:sp>
    </p:spTree>
    <p:extLst>
      <p:ext uri="{BB962C8B-B14F-4D97-AF65-F5344CB8AC3E}">
        <p14:creationId xmlns:p14="http://schemas.microsoft.com/office/powerpoint/2010/main" val="1780977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BC3698-B926-FCD8-3E34-A0BCA597160E}"/>
              </a:ext>
            </a:extLst>
          </p:cNvPr>
          <p:cNvSpPr>
            <a:spLocks noGrp="1"/>
          </p:cNvSpPr>
          <p:nvPr>
            <p:ph/>
          </p:nvPr>
        </p:nvSpPr>
        <p:spPr>
          <a:xfrm>
            <a:off x="841786" y="1156932"/>
            <a:ext cx="10515600" cy="5211969"/>
          </a:xfrm>
        </p:spPr>
        <p:txBody>
          <a:bodyPr>
            <a:normAutofit lnSpcReduction="10000"/>
          </a:bodyPr>
          <a:lstStyle/>
          <a:p>
            <a:pPr lvl="0">
              <a:lnSpc>
                <a:spcPct val="150000"/>
              </a:lnSpc>
            </a:pPr>
            <a:r>
              <a:rPr lang="en-IN" sz="2000" b="1" u="sng" dirty="0">
                <a:latin typeface="Times New Roman" panose="02020603050405020304" pitchFamily="18" charset="0"/>
                <a:cs typeface="Times New Roman" panose="02020603050405020304" pitchFamily="18" charset="0"/>
              </a:rPr>
              <a:t>Modules / Functionalities :</a:t>
            </a:r>
          </a:p>
          <a:p>
            <a:pPr marL="800100" lvl="0" indent="-342900">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Student Class</a:t>
            </a:r>
            <a:r>
              <a:rPr lang="en-IN" sz="2000" dirty="0">
                <a:latin typeface="Times New Roman" panose="02020603050405020304" pitchFamily="18" charset="0"/>
                <a:cs typeface="Times New Roman" panose="02020603050405020304" pitchFamily="18" charset="0"/>
              </a:rPr>
              <a:t> – Stores student ID, name, branch, year, and contact details. </a:t>
            </a:r>
          </a:p>
          <a:p>
            <a:pPr marL="800100" lvl="0" indent="-342900">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Marks Class</a:t>
            </a:r>
            <a:r>
              <a:rPr lang="en-IN" sz="2000" dirty="0">
                <a:latin typeface="Times New Roman" panose="02020603050405020304" pitchFamily="18" charset="0"/>
                <a:cs typeface="Times New Roman" panose="02020603050405020304" pitchFamily="18" charset="0"/>
              </a:rPr>
              <a:t> – Stores subject-wise marks and academic performance. </a:t>
            </a:r>
          </a:p>
          <a:p>
            <a:pPr marL="800100" lvl="0" indent="-342900">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Search Class/Function</a:t>
            </a:r>
            <a:r>
              <a:rPr lang="en-IN" sz="2000" dirty="0">
                <a:latin typeface="Times New Roman" panose="02020603050405020304" pitchFamily="18" charset="0"/>
                <a:cs typeface="Times New Roman" panose="02020603050405020304" pitchFamily="18" charset="0"/>
              </a:rPr>
              <a:t> – Finds records using student ID or name. </a:t>
            </a:r>
          </a:p>
          <a:p>
            <a:pPr marL="800100" lvl="0" indent="-342900">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Record Manager</a:t>
            </a:r>
            <a:r>
              <a:rPr lang="en-IN" sz="2000" dirty="0">
                <a:latin typeface="Times New Roman" panose="02020603050405020304" pitchFamily="18" charset="0"/>
                <a:cs typeface="Times New Roman" panose="02020603050405020304" pitchFamily="18" charset="0"/>
              </a:rPr>
              <a:t> – Handles adding, updating, deleting, and displaying records. </a:t>
            </a:r>
          </a:p>
          <a:p>
            <a:pPr marL="800100" lvl="0" indent="-342900">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File Handler</a:t>
            </a:r>
            <a:r>
              <a:rPr lang="en-IN" sz="2000" dirty="0">
                <a:latin typeface="Times New Roman" panose="02020603050405020304" pitchFamily="18" charset="0"/>
                <a:cs typeface="Times New Roman" panose="02020603050405020304" pitchFamily="18" charset="0"/>
              </a:rPr>
              <a:t> – Saves and retrieves records using file handling. </a:t>
            </a:r>
          </a:p>
          <a:p>
            <a:pPr marL="800100" lvl="0" indent="-342900">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Report Class</a:t>
            </a:r>
            <a:r>
              <a:rPr lang="en-IN" sz="2000" dirty="0">
                <a:latin typeface="Times New Roman" panose="02020603050405020304" pitchFamily="18" charset="0"/>
                <a:cs typeface="Times New Roman" panose="02020603050405020304" pitchFamily="18" charset="0"/>
              </a:rPr>
              <a:t> – Generates student performance summaries</a:t>
            </a:r>
          </a:p>
          <a:p>
            <a:pPr>
              <a:lnSpc>
                <a:spcPct val="150000"/>
              </a:lnSpc>
            </a:pPr>
            <a:r>
              <a:rPr lang="en-IN" sz="2000" b="1" dirty="0"/>
              <a:t>OOP Concepts Used:</a:t>
            </a:r>
            <a:endParaRPr lang="en-IN" sz="2000" dirty="0"/>
          </a:p>
          <a:p>
            <a:pPr>
              <a:lnSpc>
                <a:spcPct val="150000"/>
              </a:lnSpc>
            </a:pPr>
            <a:r>
              <a:rPr lang="en-IN" sz="2000" dirty="0"/>
              <a:t>Encapsulation , Inheritance , Polymorphism , Abstraction</a:t>
            </a:r>
          </a:p>
          <a:p>
            <a:pPr marL="914400" indent="-457200">
              <a:lnSpc>
                <a:spcPct val="150000"/>
              </a:lnSpc>
              <a:buFont typeface="Wingdings" panose="05000000000000000000" pitchFamily="2" charset="2"/>
              <a:buChar char="Ø"/>
            </a:pPr>
            <a:endParaRPr lang="en-IN" sz="2000" b="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r>
              <a:rPr lang="en-US" dirty="0"/>
              <a:t>25/08/2026</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7</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214104"/>
            <a:ext cx="9000000" cy="535531"/>
          </a:xfrm>
          <a:prstGeom prst="rect">
            <a:avLst/>
          </a:prstGeom>
          <a:noFill/>
        </p:spPr>
        <p:txBody>
          <a:bodyPr wrap="square">
            <a:spAutoFit/>
          </a:bodyPr>
          <a:lstStyle/>
          <a:p>
            <a:pPr lvl="0" algn="ctr">
              <a:lnSpc>
                <a:spcPct val="90000"/>
              </a:lnSpc>
              <a:spcBef>
                <a:spcPct val="0"/>
              </a:spcBef>
            </a:pPr>
            <a:r>
              <a:rPr lang="en-GB" sz="3200" b="1" dirty="0">
                <a:solidFill>
                  <a:srgbClr val="0000FF"/>
                </a:solidFill>
                <a:latin typeface="Times New Roman" panose="02020603050405020304" pitchFamily="18" charset="0"/>
                <a:cs typeface="Times New Roman" panose="02020603050405020304" pitchFamily="18" charset="0"/>
              </a:rPr>
              <a:t>Modules / Functionalities</a:t>
            </a:r>
          </a:p>
        </p:txBody>
      </p:sp>
    </p:spTree>
    <p:extLst>
      <p:ext uri="{BB962C8B-B14F-4D97-AF65-F5344CB8AC3E}">
        <p14:creationId xmlns:p14="http://schemas.microsoft.com/office/powerpoint/2010/main" val="1780977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a:xfrm>
            <a:off x="457200" y="6301142"/>
            <a:ext cx="1656183" cy="365125"/>
          </a:xfrm>
        </p:spPr>
        <p:txBody>
          <a:bodyPr/>
          <a:lstStyle/>
          <a:p>
            <a:r>
              <a:rPr lang="en-US" dirty="0"/>
              <a:t>25/08/2026</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8</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661720"/>
          </a:xfrm>
          <a:prstGeom prst="rect">
            <a:avLst/>
          </a:prstGeom>
          <a:noFill/>
        </p:spPr>
        <p:txBody>
          <a:bodyPr wrap="square">
            <a:spAutoFit/>
          </a:bodyPr>
          <a:lstStyle/>
          <a:p>
            <a:pPr lvl="0" algn="ctr">
              <a:lnSpc>
                <a:spcPct val="90000"/>
              </a:lnSpc>
              <a:spcBef>
                <a:spcPct val="0"/>
              </a:spcBef>
            </a:pPr>
            <a:r>
              <a:rPr lang="en-GB" sz="3200" dirty="0">
                <a:solidFill>
                  <a:srgbClr val="0000FF"/>
                </a:solidFill>
                <a:latin typeface="Maiandra GD" panose="020E0502030308020204" pitchFamily="34" charset="0"/>
                <a:cs typeface="Aharoni" panose="02010803020104030203" pitchFamily="2" charset="-79"/>
              </a:rPr>
              <a:t>Architecture Diagram</a:t>
            </a:r>
          </a:p>
        </p:txBody>
      </p:sp>
      <p:sp>
        <p:nvSpPr>
          <p:cNvPr id="8" name="Rounded Rectangle 7"/>
          <p:cNvSpPr/>
          <p:nvPr/>
        </p:nvSpPr>
        <p:spPr>
          <a:xfrm>
            <a:off x="1595999" y="1691640"/>
            <a:ext cx="9000000" cy="822960"/>
          </a:xfrm>
          <a:prstGeom prst="round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a:solidFill>
                  <a:schemeClr val="bg1"/>
                </a:solidFill>
                <a:latin typeface="Calibri"/>
              </a:rPr>
              <a:t>Presentation Layer</a:t>
            </a:r>
          </a:p>
          <a:p>
            <a:pPr algn="ctr"/>
            <a:r>
              <a:rPr sz="1500" b="0" dirty="0">
                <a:solidFill>
                  <a:schemeClr val="bg1"/>
                </a:solidFill>
                <a:latin typeface="Calibri"/>
              </a:rPr>
              <a:t>Console / Menu-driven User Interface</a:t>
            </a:r>
          </a:p>
        </p:txBody>
      </p:sp>
      <p:cxnSp>
        <p:nvCxnSpPr>
          <p:cNvPr id="9" name="Connector 8"/>
          <p:cNvCxnSpPr/>
          <p:nvPr/>
        </p:nvCxnSpPr>
        <p:spPr>
          <a:xfrm>
            <a:off x="6080760" y="2514600"/>
            <a:ext cx="0" cy="36576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596000" y="2880360"/>
            <a:ext cx="8999996" cy="1051560"/>
          </a:xfrm>
          <a:prstGeom prst="roundRect">
            <a:avLst/>
          </a:prstGeom>
          <a:solidFill>
            <a:srgbClr val="2E5B8A"/>
          </a:solidFill>
          <a:ln>
            <a:solidFill>
              <a:srgbClr val="2E5B8A"/>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dirty="0">
                <a:solidFill>
                  <a:srgbClr val="FFFFFF"/>
                </a:solidFill>
                <a:latin typeface="Calibri"/>
              </a:rPr>
              <a:t>Business Logic Layer</a:t>
            </a:r>
          </a:p>
          <a:p>
            <a:pPr algn="ctr"/>
            <a:r>
              <a:rPr lang="en-IN" sz="1400" dirty="0"/>
              <a:t>Student Manager | Search Manager | Marks Manager | Report Manage</a:t>
            </a:r>
            <a:endParaRPr sz="1300" b="1" dirty="0">
              <a:solidFill>
                <a:srgbClr val="FFFFFF"/>
              </a:solidFill>
              <a:latin typeface="Calibri"/>
            </a:endParaRPr>
          </a:p>
        </p:txBody>
      </p:sp>
      <p:cxnSp>
        <p:nvCxnSpPr>
          <p:cNvPr id="11" name="Connector 10"/>
          <p:cNvCxnSpPr/>
          <p:nvPr/>
        </p:nvCxnSpPr>
        <p:spPr>
          <a:xfrm>
            <a:off x="6080760" y="3931920"/>
            <a:ext cx="0" cy="365760"/>
          </a:xfrm>
          <a:prstGeom prst="line">
            <a:avLst/>
          </a:prstGeom>
          <a:ln w="22225">
            <a:solidFill>
              <a:srgbClr val="1F3A5F"/>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595996" y="4419544"/>
            <a:ext cx="9000000" cy="868680"/>
          </a:xfrm>
          <a:prstGeom prst="roundRect">
            <a:avLst/>
          </a:prstGeom>
          <a:solidFill>
            <a:srgbClr val="2E868A"/>
          </a:solidFill>
          <a:ln>
            <a:solidFill>
              <a:srgbClr val="2E868A"/>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dirty="0">
                <a:solidFill>
                  <a:srgbClr val="FFFFFF"/>
                </a:solidFill>
                <a:latin typeface="Calibri"/>
              </a:rPr>
              <a:t>Data Layer</a:t>
            </a:r>
          </a:p>
          <a:p>
            <a:pPr algn="ctr"/>
            <a:r>
              <a:rPr sz="1500" b="0" dirty="0">
                <a:solidFill>
                  <a:srgbClr val="FFFFFF"/>
                </a:solidFill>
                <a:latin typeface="Calibri"/>
              </a:rPr>
              <a:t>File Handling ( Student,  MARKS records)</a:t>
            </a:r>
          </a:p>
        </p:txBody>
      </p:sp>
    </p:spTree>
    <p:extLst>
      <p:ext uri="{BB962C8B-B14F-4D97-AF65-F5344CB8AC3E}">
        <p14:creationId xmlns:p14="http://schemas.microsoft.com/office/powerpoint/2010/main" val="1780977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r>
              <a:rPr lang="en-US" dirty="0"/>
              <a:t>25/08/2026</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a:xfrm>
            <a:off x="10697391" y="6253557"/>
            <a:ext cx="1081336" cy="365125"/>
          </a:xfrm>
        </p:spPr>
        <p:txBody>
          <a:bodyPr/>
          <a:lstStyle/>
          <a:p>
            <a:fld id="{9359D16F-76A5-41BA-ADDD-CBF352B33DDD}" type="slidenum">
              <a:rPr lang="en-IN" smtClean="0"/>
              <a:t>9</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3886200" y="433845"/>
            <a:ext cx="5223386" cy="661720"/>
          </a:xfrm>
          <a:prstGeom prst="rect">
            <a:avLst/>
          </a:prstGeom>
          <a:noFill/>
        </p:spPr>
        <p:txBody>
          <a:bodyPr wrap="square">
            <a:spAutoFit/>
          </a:bodyPr>
          <a:lstStyle/>
          <a:p>
            <a:pPr lvl="0" algn="ctr">
              <a:lnSpc>
                <a:spcPct val="90000"/>
              </a:lnSpc>
              <a:spcBef>
                <a:spcPct val="0"/>
              </a:spcBef>
            </a:pPr>
            <a:r>
              <a:rPr lang="en-GB" sz="4000" dirty="0">
                <a:solidFill>
                  <a:srgbClr val="0000FF"/>
                </a:solidFill>
                <a:latin typeface="Maiandra GD" panose="020E0502030308020204" pitchFamily="34" charset="0"/>
                <a:cs typeface="Aharoni" panose="02010803020104030203" pitchFamily="2" charset="-79"/>
              </a:rPr>
              <a:t>ER Diagram / DFD</a:t>
            </a:r>
          </a:p>
        </p:txBody>
      </p:sp>
      <p:pic>
        <p:nvPicPr>
          <p:cNvPr id="44" name="Picture 43">
            <a:extLst>
              <a:ext uri="{FF2B5EF4-FFF2-40B4-BE49-F238E27FC236}">
                <a16:creationId xmlns:a16="http://schemas.microsoft.com/office/drawing/2014/main" id="{6622D325-BEFB-470C-F295-21BB0DE56F98}"/>
              </a:ext>
            </a:extLst>
          </p:cNvPr>
          <p:cNvPicPr>
            <a:picLocks noChangeAspect="1"/>
          </p:cNvPicPr>
          <p:nvPr/>
        </p:nvPicPr>
        <p:blipFill>
          <a:blip r:embed="rId3"/>
          <a:stretch>
            <a:fillRect/>
          </a:stretch>
        </p:blipFill>
        <p:spPr>
          <a:xfrm>
            <a:off x="206636" y="1121183"/>
            <a:ext cx="11778727" cy="5736817"/>
          </a:xfrm>
          <a:prstGeom prst="rect">
            <a:avLst/>
          </a:prstGeom>
        </p:spPr>
      </p:pic>
      <p:sp>
        <p:nvSpPr>
          <p:cNvPr id="48" name="TextBox 47">
            <a:extLst>
              <a:ext uri="{FF2B5EF4-FFF2-40B4-BE49-F238E27FC236}">
                <a16:creationId xmlns:a16="http://schemas.microsoft.com/office/drawing/2014/main" id="{349A08AC-B71C-9B6A-85A7-FC5A167CDBA4}"/>
              </a:ext>
            </a:extLst>
          </p:cNvPr>
          <p:cNvSpPr txBox="1"/>
          <p:nvPr/>
        </p:nvSpPr>
        <p:spPr>
          <a:xfrm>
            <a:off x="420445" y="6285655"/>
            <a:ext cx="6212540" cy="276999"/>
          </a:xfrm>
          <a:prstGeom prst="rect">
            <a:avLst/>
          </a:prstGeom>
          <a:noFill/>
        </p:spPr>
        <p:txBody>
          <a:bodyPr wrap="square">
            <a:spAutoFit/>
          </a:bodyPr>
          <a:lstStyle/>
          <a:p>
            <a:r>
              <a:rPr lang="en-US" sz="1200" dirty="0"/>
              <a:t>25/08/2026</a:t>
            </a:r>
          </a:p>
        </p:txBody>
      </p:sp>
    </p:spTree>
    <p:extLst>
      <p:ext uri="{BB962C8B-B14F-4D97-AF65-F5344CB8AC3E}">
        <p14:creationId xmlns:p14="http://schemas.microsoft.com/office/powerpoint/2010/main" val="2026700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fld id="{A4A026F9-4B12-44A3-954F-2C895BB9BCAE}" type="datetime1">
              <a:rPr lang="en-US" smtClean="0"/>
              <a:t>10/29/2026</a:t>
            </a:fld>
            <a:endParaRPr lang="en-US" dirty="0"/>
          </a:p>
        </p:txBody>
      </p:sp>
      <p:sp>
        <p:nvSpPr>
          <p:cNvPr id="4" name="Footer Placeholder 3">
            <a:extLst>
              <a:ext uri="{FF2B5EF4-FFF2-40B4-BE49-F238E27FC236}">
                <a16:creationId xmlns:a16="http://schemas.microsoft.com/office/drawing/2014/main" id="{6C1A7CD3-FDC3-32A7-74E1-968EEFC4A74C}"/>
              </a:ext>
            </a:extLst>
          </p:cNvPr>
          <p:cNvSpPr>
            <a:spLocks noGrp="1"/>
          </p:cNvSpPr>
          <p:nvPr>
            <p:ph type="ftr" sz="quarter" idx="2"/>
          </p:nvPr>
        </p:nvSpPr>
        <p:spPr/>
        <p:txBody>
          <a:bodyPr/>
          <a:lstStyle/>
          <a:p>
            <a:r>
              <a:rPr lang="en-US"/>
              <a:t>PBL Course Name: Object Oriented Programming through C++(2501CS08)     REVIEW-1</a:t>
            </a:r>
            <a:endParaRPr lang="en-US" dirty="0"/>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10</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535531"/>
          </a:xfrm>
          <a:prstGeom prst="rect">
            <a:avLst/>
          </a:prstGeom>
          <a:noFill/>
        </p:spPr>
        <p:txBody>
          <a:bodyPr wrap="square">
            <a:spAutoFit/>
          </a:bodyPr>
          <a:lstStyle/>
          <a:p>
            <a:pPr lvl="0" algn="ctr">
              <a:lnSpc>
                <a:spcPct val="90000"/>
              </a:lnSpc>
              <a:spcBef>
                <a:spcPct val="0"/>
              </a:spcBef>
            </a:pPr>
            <a:r>
              <a:rPr lang="en-GB" sz="3200" b="1" dirty="0">
                <a:solidFill>
                  <a:srgbClr val="0000FF"/>
                </a:solidFill>
                <a:latin typeface="Times New Roman" panose="02020603050405020304" pitchFamily="18" charset="0"/>
                <a:cs typeface="Times New Roman" panose="02020603050405020304" pitchFamily="18" charset="0"/>
              </a:rPr>
              <a:t>Planning and Timeline Diagram</a:t>
            </a:r>
          </a:p>
        </p:txBody>
      </p:sp>
      <p:sp>
        <p:nvSpPr>
          <p:cNvPr id="8" name="TextBox 7"/>
          <p:cNvSpPr txBox="1"/>
          <p:nvPr/>
        </p:nvSpPr>
        <p:spPr>
          <a:xfrm>
            <a:off x="3931920" y="1463040"/>
            <a:ext cx="1045028" cy="276999"/>
          </a:xfrm>
          <a:prstGeom prst="rect">
            <a:avLst/>
          </a:prstGeom>
          <a:noFill/>
        </p:spPr>
        <p:txBody>
          <a:bodyPr wrap="square">
            <a:spAutoFit/>
          </a:bodyPr>
          <a:lstStyle/>
          <a:p>
            <a:pPr algn="ctr"/>
            <a:r>
              <a:rPr sz="1200" b="1">
                <a:solidFill>
                  <a:srgbClr val="1F3A5F"/>
                </a:solidFill>
                <a:latin typeface="Times New Roman" panose="02020603050405020304" pitchFamily="18" charset="0"/>
                <a:cs typeface="Times New Roman" panose="02020603050405020304" pitchFamily="18" charset="0"/>
              </a:rPr>
              <a:t>W1</a:t>
            </a:r>
          </a:p>
        </p:txBody>
      </p:sp>
      <p:sp>
        <p:nvSpPr>
          <p:cNvPr id="9" name="TextBox 8"/>
          <p:cNvSpPr txBox="1"/>
          <p:nvPr/>
        </p:nvSpPr>
        <p:spPr>
          <a:xfrm>
            <a:off x="4976948" y="1463040"/>
            <a:ext cx="1045028" cy="276999"/>
          </a:xfrm>
          <a:prstGeom prst="rect">
            <a:avLst/>
          </a:prstGeom>
          <a:noFill/>
        </p:spPr>
        <p:txBody>
          <a:bodyPr wrap="square">
            <a:spAutoFit/>
          </a:bodyPr>
          <a:lstStyle/>
          <a:p>
            <a:pPr algn="ctr"/>
            <a:r>
              <a:rPr sz="1200" b="1">
                <a:solidFill>
                  <a:srgbClr val="1F3A5F"/>
                </a:solidFill>
                <a:latin typeface="Times New Roman" panose="02020603050405020304" pitchFamily="18" charset="0"/>
                <a:cs typeface="Times New Roman" panose="02020603050405020304" pitchFamily="18" charset="0"/>
              </a:rPr>
              <a:t>W2</a:t>
            </a:r>
          </a:p>
        </p:txBody>
      </p:sp>
      <p:sp>
        <p:nvSpPr>
          <p:cNvPr id="10" name="TextBox 9"/>
          <p:cNvSpPr txBox="1"/>
          <p:nvPr/>
        </p:nvSpPr>
        <p:spPr>
          <a:xfrm>
            <a:off x="6021977" y="1463040"/>
            <a:ext cx="1045028" cy="276999"/>
          </a:xfrm>
          <a:prstGeom prst="rect">
            <a:avLst/>
          </a:prstGeom>
          <a:noFill/>
        </p:spPr>
        <p:txBody>
          <a:bodyPr wrap="square">
            <a:spAutoFit/>
          </a:bodyPr>
          <a:lstStyle/>
          <a:p>
            <a:pPr algn="ctr"/>
            <a:r>
              <a:rPr sz="1200" b="1">
                <a:solidFill>
                  <a:srgbClr val="1F3A5F"/>
                </a:solidFill>
                <a:latin typeface="Times New Roman" panose="02020603050405020304" pitchFamily="18" charset="0"/>
                <a:cs typeface="Times New Roman" panose="02020603050405020304" pitchFamily="18" charset="0"/>
              </a:rPr>
              <a:t>W3</a:t>
            </a:r>
          </a:p>
        </p:txBody>
      </p:sp>
      <p:sp>
        <p:nvSpPr>
          <p:cNvPr id="11" name="TextBox 10"/>
          <p:cNvSpPr txBox="1"/>
          <p:nvPr/>
        </p:nvSpPr>
        <p:spPr>
          <a:xfrm>
            <a:off x="7067005" y="1463040"/>
            <a:ext cx="1045028" cy="276999"/>
          </a:xfrm>
          <a:prstGeom prst="rect">
            <a:avLst/>
          </a:prstGeom>
          <a:noFill/>
        </p:spPr>
        <p:txBody>
          <a:bodyPr wrap="square">
            <a:spAutoFit/>
          </a:bodyPr>
          <a:lstStyle/>
          <a:p>
            <a:pPr algn="ctr"/>
            <a:r>
              <a:rPr sz="1200" b="1">
                <a:solidFill>
                  <a:srgbClr val="1F3A5F"/>
                </a:solidFill>
                <a:latin typeface="Times New Roman" panose="02020603050405020304" pitchFamily="18" charset="0"/>
                <a:cs typeface="Times New Roman" panose="02020603050405020304" pitchFamily="18" charset="0"/>
              </a:rPr>
              <a:t>W4</a:t>
            </a:r>
          </a:p>
        </p:txBody>
      </p:sp>
      <p:sp>
        <p:nvSpPr>
          <p:cNvPr id="12" name="TextBox 11"/>
          <p:cNvSpPr txBox="1"/>
          <p:nvPr/>
        </p:nvSpPr>
        <p:spPr>
          <a:xfrm>
            <a:off x="8112034" y="1463040"/>
            <a:ext cx="1045028" cy="276999"/>
          </a:xfrm>
          <a:prstGeom prst="rect">
            <a:avLst/>
          </a:prstGeom>
          <a:noFill/>
        </p:spPr>
        <p:txBody>
          <a:bodyPr wrap="square">
            <a:spAutoFit/>
          </a:bodyPr>
          <a:lstStyle/>
          <a:p>
            <a:pPr algn="ctr"/>
            <a:r>
              <a:rPr sz="1200" b="1">
                <a:solidFill>
                  <a:srgbClr val="1F3A5F"/>
                </a:solidFill>
                <a:latin typeface="Times New Roman" panose="02020603050405020304" pitchFamily="18" charset="0"/>
                <a:cs typeface="Times New Roman" panose="02020603050405020304" pitchFamily="18" charset="0"/>
              </a:rPr>
              <a:t>W5</a:t>
            </a:r>
          </a:p>
        </p:txBody>
      </p:sp>
      <p:sp>
        <p:nvSpPr>
          <p:cNvPr id="13" name="TextBox 12"/>
          <p:cNvSpPr txBox="1"/>
          <p:nvPr/>
        </p:nvSpPr>
        <p:spPr>
          <a:xfrm>
            <a:off x="9157062" y="1463040"/>
            <a:ext cx="1045028" cy="276999"/>
          </a:xfrm>
          <a:prstGeom prst="rect">
            <a:avLst/>
          </a:prstGeom>
          <a:noFill/>
        </p:spPr>
        <p:txBody>
          <a:bodyPr wrap="square">
            <a:spAutoFit/>
          </a:bodyPr>
          <a:lstStyle/>
          <a:p>
            <a:pPr algn="ctr"/>
            <a:r>
              <a:rPr sz="1200" b="1">
                <a:solidFill>
                  <a:srgbClr val="1F3A5F"/>
                </a:solidFill>
                <a:latin typeface="Times New Roman" panose="02020603050405020304" pitchFamily="18" charset="0"/>
                <a:cs typeface="Times New Roman" panose="02020603050405020304" pitchFamily="18" charset="0"/>
              </a:rPr>
              <a:t>W6</a:t>
            </a:r>
          </a:p>
        </p:txBody>
      </p:sp>
      <p:sp>
        <p:nvSpPr>
          <p:cNvPr id="14" name="TextBox 13"/>
          <p:cNvSpPr txBox="1"/>
          <p:nvPr/>
        </p:nvSpPr>
        <p:spPr>
          <a:xfrm>
            <a:off x="10202091" y="1463040"/>
            <a:ext cx="1045028" cy="276999"/>
          </a:xfrm>
          <a:prstGeom prst="rect">
            <a:avLst/>
          </a:prstGeom>
          <a:noFill/>
        </p:spPr>
        <p:txBody>
          <a:bodyPr wrap="square">
            <a:spAutoFit/>
          </a:bodyPr>
          <a:lstStyle/>
          <a:p>
            <a:pPr algn="ctr"/>
            <a:r>
              <a:rPr sz="1200" b="1">
                <a:solidFill>
                  <a:srgbClr val="1F3A5F"/>
                </a:solidFill>
                <a:latin typeface="Times New Roman" panose="02020603050405020304" pitchFamily="18" charset="0"/>
                <a:cs typeface="Times New Roman" panose="02020603050405020304" pitchFamily="18" charset="0"/>
              </a:rPr>
              <a:t>W7</a:t>
            </a:r>
          </a:p>
        </p:txBody>
      </p:sp>
      <p:sp>
        <p:nvSpPr>
          <p:cNvPr id="15" name="TextBox 14"/>
          <p:cNvSpPr txBox="1"/>
          <p:nvPr/>
        </p:nvSpPr>
        <p:spPr>
          <a:xfrm>
            <a:off x="914400" y="1828800"/>
            <a:ext cx="2880360" cy="338554"/>
          </a:xfrm>
          <a:prstGeom prst="rect">
            <a:avLst/>
          </a:prstGeom>
          <a:noFill/>
        </p:spPr>
        <p:txBody>
          <a:bodyPr wrap="square">
            <a:spAutoFit/>
          </a:bodyPr>
          <a:lstStyle/>
          <a:p>
            <a:pPr algn="l"/>
            <a:r>
              <a:rPr sz="1600" b="0">
                <a:solidFill>
                  <a:srgbClr val="222222"/>
                </a:solidFill>
                <a:latin typeface="Times New Roman" panose="02020603050405020304" pitchFamily="18" charset="0"/>
                <a:cs typeface="Times New Roman" panose="02020603050405020304" pitchFamily="18" charset="0"/>
              </a:rPr>
              <a:t>Requirement Analysis</a:t>
            </a:r>
          </a:p>
        </p:txBody>
      </p:sp>
      <p:sp>
        <p:nvSpPr>
          <p:cNvPr id="16" name="Rounded Rectangle 15"/>
          <p:cNvSpPr/>
          <p:nvPr/>
        </p:nvSpPr>
        <p:spPr>
          <a:xfrm>
            <a:off x="3931920" y="1883664"/>
            <a:ext cx="868680" cy="384048"/>
          </a:xfrm>
          <a:prstGeom prst="roundRect">
            <a:avLst/>
          </a:prstGeom>
          <a:solidFill>
            <a:srgbClr val="1F3A5F"/>
          </a:solidFill>
          <a:ln>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New Roman" panose="02020603050405020304" pitchFamily="18" charset="0"/>
              <a:cs typeface="Times New Roman" panose="02020603050405020304" pitchFamily="18" charset="0"/>
            </a:endParaRPr>
          </a:p>
        </p:txBody>
      </p:sp>
      <p:sp>
        <p:nvSpPr>
          <p:cNvPr id="17" name="TextBox 16"/>
          <p:cNvSpPr txBox="1"/>
          <p:nvPr/>
        </p:nvSpPr>
        <p:spPr>
          <a:xfrm>
            <a:off x="914400" y="2395728"/>
            <a:ext cx="2880360" cy="584775"/>
          </a:xfrm>
          <a:prstGeom prst="rect">
            <a:avLst/>
          </a:prstGeom>
          <a:noFill/>
        </p:spPr>
        <p:txBody>
          <a:bodyPr wrap="square">
            <a:spAutoFit/>
          </a:bodyPr>
          <a:lstStyle/>
          <a:p>
            <a:pPr algn="l"/>
            <a:r>
              <a:rPr sz="1600" b="0">
                <a:solidFill>
                  <a:srgbClr val="222222"/>
                </a:solidFill>
                <a:latin typeface="Times New Roman" panose="02020603050405020304" pitchFamily="18" charset="0"/>
                <a:cs typeface="Times New Roman" panose="02020603050405020304" pitchFamily="18" charset="0"/>
              </a:rPr>
              <a:t>System Design (Class/ER Diagrams)</a:t>
            </a:r>
          </a:p>
        </p:txBody>
      </p:sp>
      <p:sp>
        <p:nvSpPr>
          <p:cNvPr id="18" name="Rounded Rectangle 17"/>
          <p:cNvSpPr/>
          <p:nvPr/>
        </p:nvSpPr>
        <p:spPr>
          <a:xfrm>
            <a:off x="4976948" y="2450592"/>
            <a:ext cx="2090057" cy="384048"/>
          </a:xfrm>
          <a:prstGeom prst="roundRect">
            <a:avLst/>
          </a:prstGeom>
          <a:solidFill>
            <a:srgbClr val="2E5B8A"/>
          </a:solidFill>
          <a:ln>
            <a:solidFill>
              <a:srgbClr val="2E5B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New Roman" panose="02020603050405020304" pitchFamily="18" charset="0"/>
              <a:cs typeface="Times New Roman" panose="02020603050405020304" pitchFamily="18" charset="0"/>
            </a:endParaRPr>
          </a:p>
        </p:txBody>
      </p:sp>
      <p:sp>
        <p:nvSpPr>
          <p:cNvPr id="19" name="TextBox 18"/>
          <p:cNvSpPr txBox="1"/>
          <p:nvPr/>
        </p:nvSpPr>
        <p:spPr>
          <a:xfrm>
            <a:off x="914400" y="2962656"/>
            <a:ext cx="2880360" cy="338554"/>
          </a:xfrm>
          <a:prstGeom prst="rect">
            <a:avLst/>
          </a:prstGeom>
          <a:noFill/>
        </p:spPr>
        <p:txBody>
          <a:bodyPr wrap="square">
            <a:spAutoFit/>
          </a:bodyPr>
          <a:lstStyle/>
          <a:p>
            <a:pPr algn="l"/>
            <a:r>
              <a:rPr sz="1600" b="0" dirty="0">
                <a:solidFill>
                  <a:srgbClr val="222222"/>
                </a:solidFill>
                <a:latin typeface="Times New Roman" panose="02020603050405020304" pitchFamily="18" charset="0"/>
                <a:cs typeface="Times New Roman" panose="02020603050405020304" pitchFamily="18" charset="0"/>
              </a:rPr>
              <a:t>Coding &amp; Module Development</a:t>
            </a:r>
          </a:p>
        </p:txBody>
      </p:sp>
      <p:sp>
        <p:nvSpPr>
          <p:cNvPr id="20" name="Rounded Rectangle 19"/>
          <p:cNvSpPr/>
          <p:nvPr/>
        </p:nvSpPr>
        <p:spPr>
          <a:xfrm>
            <a:off x="5867401" y="3017520"/>
            <a:ext cx="3733800" cy="384048"/>
          </a:xfrm>
          <a:prstGeom prst="roundRect">
            <a:avLst/>
          </a:prstGeom>
          <a:solidFill>
            <a:srgbClr val="2E868A"/>
          </a:solidFill>
          <a:ln>
            <a:solidFill>
              <a:srgbClr val="2E8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New Roman" panose="02020603050405020304" pitchFamily="18" charset="0"/>
              <a:cs typeface="Times New Roman" panose="02020603050405020304" pitchFamily="18" charset="0"/>
            </a:endParaRPr>
          </a:p>
        </p:txBody>
      </p:sp>
      <p:sp>
        <p:nvSpPr>
          <p:cNvPr id="21" name="TextBox 20"/>
          <p:cNvSpPr txBox="1"/>
          <p:nvPr/>
        </p:nvSpPr>
        <p:spPr>
          <a:xfrm>
            <a:off x="914400" y="3529584"/>
            <a:ext cx="2880360" cy="338554"/>
          </a:xfrm>
          <a:prstGeom prst="rect">
            <a:avLst/>
          </a:prstGeom>
          <a:noFill/>
        </p:spPr>
        <p:txBody>
          <a:bodyPr wrap="square">
            <a:spAutoFit/>
          </a:bodyPr>
          <a:lstStyle/>
          <a:p>
            <a:pPr algn="l"/>
            <a:r>
              <a:rPr sz="1600" b="0">
                <a:solidFill>
                  <a:srgbClr val="222222"/>
                </a:solidFill>
                <a:latin typeface="Times New Roman" panose="02020603050405020304" pitchFamily="18" charset="0"/>
                <a:cs typeface="Times New Roman" panose="02020603050405020304" pitchFamily="18" charset="0"/>
              </a:rPr>
              <a:t>Integration &amp; Testing</a:t>
            </a:r>
          </a:p>
        </p:txBody>
      </p:sp>
      <p:sp>
        <p:nvSpPr>
          <p:cNvPr id="22" name="Rounded Rectangle 21"/>
          <p:cNvSpPr/>
          <p:nvPr/>
        </p:nvSpPr>
        <p:spPr>
          <a:xfrm>
            <a:off x="9296400" y="3584448"/>
            <a:ext cx="1428204" cy="384048"/>
          </a:xfrm>
          <a:prstGeom prst="roundRect">
            <a:avLst/>
          </a:prstGeom>
          <a:solidFill>
            <a:srgbClr val="2E5B8A"/>
          </a:solidFill>
          <a:ln>
            <a:solidFill>
              <a:srgbClr val="2E5B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New Roman" panose="02020603050405020304" pitchFamily="18" charset="0"/>
              <a:cs typeface="Times New Roman" panose="02020603050405020304" pitchFamily="18" charset="0"/>
            </a:endParaRPr>
          </a:p>
        </p:txBody>
      </p:sp>
      <p:sp>
        <p:nvSpPr>
          <p:cNvPr id="23" name="TextBox 22"/>
          <p:cNvSpPr txBox="1"/>
          <p:nvPr/>
        </p:nvSpPr>
        <p:spPr>
          <a:xfrm>
            <a:off x="914400" y="4096512"/>
            <a:ext cx="2880360" cy="338554"/>
          </a:xfrm>
          <a:prstGeom prst="rect">
            <a:avLst/>
          </a:prstGeom>
          <a:noFill/>
        </p:spPr>
        <p:txBody>
          <a:bodyPr wrap="square">
            <a:spAutoFit/>
          </a:bodyPr>
          <a:lstStyle/>
          <a:p>
            <a:pPr algn="l"/>
            <a:r>
              <a:rPr sz="1600" b="0">
                <a:solidFill>
                  <a:srgbClr val="222222"/>
                </a:solidFill>
                <a:latin typeface="Times New Roman" panose="02020603050405020304" pitchFamily="18" charset="0"/>
                <a:cs typeface="Times New Roman" panose="02020603050405020304" pitchFamily="18" charset="0"/>
              </a:rPr>
              <a:t>Documentation &amp; Final Review</a:t>
            </a:r>
          </a:p>
        </p:txBody>
      </p:sp>
      <p:sp>
        <p:nvSpPr>
          <p:cNvPr id="24" name="Rounded Rectangle 23"/>
          <p:cNvSpPr/>
          <p:nvPr/>
        </p:nvSpPr>
        <p:spPr>
          <a:xfrm>
            <a:off x="10411097" y="4151376"/>
            <a:ext cx="1045028" cy="384048"/>
          </a:xfrm>
          <a:prstGeom prst="roundRect">
            <a:avLst/>
          </a:prstGeom>
          <a:solidFill>
            <a:srgbClr val="2E868A"/>
          </a:solidFill>
          <a:ln>
            <a:solidFill>
              <a:srgbClr val="2E8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0977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D2B478A-2226-B360-8AD2-E37AD61AAA2F}"/>
              </a:ext>
            </a:extLst>
          </p:cNvPr>
          <p:cNvSpPr>
            <a:spLocks noGrp="1"/>
          </p:cNvSpPr>
          <p:nvPr>
            <p:ph type="dt" sz="half" idx="1"/>
          </p:nvPr>
        </p:nvSpPr>
        <p:spPr/>
        <p:txBody>
          <a:bodyPr/>
          <a:lstStyle/>
          <a:p>
            <a:r>
              <a:rPr lang="en-US" dirty="0"/>
              <a:t>25/08/2026</a:t>
            </a:r>
          </a:p>
        </p:txBody>
      </p:sp>
      <p:sp>
        <p:nvSpPr>
          <p:cNvPr id="5" name="Slide Number Placeholder 4">
            <a:extLst>
              <a:ext uri="{FF2B5EF4-FFF2-40B4-BE49-F238E27FC236}">
                <a16:creationId xmlns:a16="http://schemas.microsoft.com/office/drawing/2014/main" id="{2EC66408-B064-CD45-6F0B-FF7488C8CCC8}"/>
              </a:ext>
            </a:extLst>
          </p:cNvPr>
          <p:cNvSpPr>
            <a:spLocks noGrp="1"/>
          </p:cNvSpPr>
          <p:nvPr>
            <p:ph type="sldNum" sz="quarter" idx="3"/>
          </p:nvPr>
        </p:nvSpPr>
        <p:spPr/>
        <p:txBody>
          <a:bodyPr/>
          <a:lstStyle/>
          <a:p>
            <a:fld id="{9359D16F-76A5-41BA-ADDD-CBF352B33DDD}" type="slidenum">
              <a:rPr lang="en-IN" smtClean="0"/>
              <a:t>11</a:t>
            </a:fld>
            <a:endParaRPr lang="en-IN" dirty="0"/>
          </a:p>
        </p:txBody>
      </p:sp>
      <p:sp>
        <p:nvSpPr>
          <p:cNvPr id="7" name="TextBox 6">
            <a:extLst>
              <a:ext uri="{FF2B5EF4-FFF2-40B4-BE49-F238E27FC236}">
                <a16:creationId xmlns:a16="http://schemas.microsoft.com/office/drawing/2014/main" id="{F8107C4F-2400-B326-479D-154C65509A60}"/>
              </a:ext>
            </a:extLst>
          </p:cNvPr>
          <p:cNvSpPr txBox="1"/>
          <p:nvPr/>
        </p:nvSpPr>
        <p:spPr>
          <a:xfrm>
            <a:off x="1596000" y="433845"/>
            <a:ext cx="9000000" cy="661720"/>
          </a:xfrm>
          <a:prstGeom prst="rect">
            <a:avLst/>
          </a:prstGeom>
          <a:noFill/>
        </p:spPr>
        <p:txBody>
          <a:bodyPr wrap="square">
            <a:spAutoFit/>
          </a:bodyPr>
          <a:lstStyle/>
          <a:p>
            <a:pPr lvl="0" algn="ctr">
              <a:lnSpc>
                <a:spcPct val="90000"/>
              </a:lnSpc>
              <a:spcBef>
                <a:spcPct val="0"/>
              </a:spcBef>
            </a:pPr>
            <a:r>
              <a:rPr lang="en-GB" sz="3200" dirty="0">
                <a:solidFill>
                  <a:srgbClr val="0000FF"/>
                </a:solidFill>
                <a:latin typeface="Maiandra GD" panose="020E0502030308020204" pitchFamily="34" charset="0"/>
                <a:cs typeface="Aharoni" panose="02010803020104030203" pitchFamily="2" charset="-79"/>
              </a:rPr>
              <a:t>Role of Each Individual</a:t>
            </a:r>
          </a:p>
        </p:txBody>
      </p:sp>
      <p:graphicFrame>
        <p:nvGraphicFramePr>
          <p:cNvPr id="8" name="Table 7"/>
          <p:cNvGraphicFramePr>
            <a:graphicFrameLocks noGrp="1"/>
          </p:cNvGraphicFramePr>
          <p:nvPr>
            <p:extLst>
              <p:ext uri="{D42A27DB-BD31-4B8C-83A1-F6EECF244321}">
                <p14:modId xmlns:p14="http://schemas.microsoft.com/office/powerpoint/2010/main" val="3005332398"/>
              </p:ext>
            </p:extLst>
          </p:nvPr>
        </p:nvGraphicFramePr>
        <p:xfrm>
          <a:off x="914400" y="1752600"/>
          <a:ext cx="9418320" cy="38100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762000">
                <a:tc>
                  <a:txBody>
                    <a:bodyPr/>
                    <a:lstStyle/>
                    <a:p>
                      <a:r>
                        <a:rPr sz="1800" b="1">
                          <a:solidFill>
                            <a:srgbClr val="FFFFFF"/>
                          </a:solidFill>
                          <a:latin typeface="Times New Roman" panose="02020603050405020304" pitchFamily="18" charset="0"/>
                          <a:cs typeface="Times New Roman" panose="02020603050405020304" pitchFamily="18" charset="0"/>
                        </a:rPr>
                        <a:t>Roll No.</a:t>
                      </a:r>
                    </a:p>
                  </a:txBody>
                  <a:tcPr anchor="ctr">
                    <a:solidFill>
                      <a:srgbClr val="1F3A5F"/>
                    </a:solidFill>
                  </a:tcPr>
                </a:tc>
                <a:tc>
                  <a:txBody>
                    <a:bodyPr/>
                    <a:lstStyle/>
                    <a:p>
                      <a:r>
                        <a:rPr sz="1800" b="1" dirty="0">
                          <a:solidFill>
                            <a:srgbClr val="FFFFFF"/>
                          </a:solidFill>
                          <a:latin typeface="Times New Roman" panose="02020603050405020304" pitchFamily="18" charset="0"/>
                          <a:cs typeface="Times New Roman" panose="02020603050405020304" pitchFamily="18" charset="0"/>
                        </a:rPr>
                        <a:t>Name</a:t>
                      </a:r>
                    </a:p>
                  </a:txBody>
                  <a:tcPr anchor="ctr">
                    <a:solidFill>
                      <a:srgbClr val="1F3A5F"/>
                    </a:solidFill>
                  </a:tcPr>
                </a:tc>
                <a:tc>
                  <a:txBody>
                    <a:bodyPr/>
                    <a:lstStyle/>
                    <a:p>
                      <a:r>
                        <a:rPr sz="1800" b="1">
                          <a:solidFill>
                            <a:srgbClr val="FFFFFF"/>
                          </a:solidFill>
                          <a:latin typeface="Times New Roman" panose="02020603050405020304" pitchFamily="18" charset="0"/>
                          <a:cs typeface="Times New Roman" panose="02020603050405020304" pitchFamily="18" charset="0"/>
                        </a:rPr>
                        <a:t>Role / Responsibility</a:t>
                      </a:r>
                    </a:p>
                  </a:txBody>
                  <a:tcPr anchor="ctr">
                    <a:solidFill>
                      <a:srgbClr val="1F3A5F"/>
                    </a:solidFill>
                  </a:tcPr>
                </a:tc>
                <a:extLst>
                  <a:ext uri="{0D108BD9-81ED-4DB2-BD59-A6C34878D82A}">
                    <a16:rowId xmlns:a16="http://schemas.microsoft.com/office/drawing/2014/main" val="10000"/>
                  </a:ext>
                </a:extLst>
              </a:tr>
              <a:tr h="762000">
                <a:tc>
                  <a:txBody>
                    <a:bodyPr/>
                    <a:lstStyle/>
                    <a:p>
                      <a:r>
                        <a:rPr sz="1800" b="0" dirty="0">
                          <a:solidFill>
                            <a:srgbClr val="222222"/>
                          </a:solidFill>
                          <a:latin typeface="Times New Roman" panose="02020603050405020304" pitchFamily="18" charset="0"/>
                          <a:cs typeface="Times New Roman" panose="02020603050405020304" pitchFamily="18" charset="0"/>
                        </a:rPr>
                        <a:t>25B11AI057</a:t>
                      </a:r>
                    </a:p>
                  </a:txBody>
                  <a:tcPr anchor="ctr">
                    <a:solidFill>
                      <a:srgbClr val="FFFFFF"/>
                    </a:solidFill>
                  </a:tcPr>
                </a:tc>
                <a:tc>
                  <a:txBody>
                    <a:bodyPr/>
                    <a:lstStyle/>
                    <a:p>
                      <a:r>
                        <a:rPr sz="1800" b="0" dirty="0" err="1">
                          <a:solidFill>
                            <a:srgbClr val="222222"/>
                          </a:solidFill>
                          <a:latin typeface="Times New Roman" panose="02020603050405020304" pitchFamily="18" charset="0"/>
                          <a:cs typeface="Times New Roman" panose="02020603050405020304" pitchFamily="18" charset="0"/>
                        </a:rPr>
                        <a:t>Anyam</a:t>
                      </a:r>
                      <a:r>
                        <a:rPr sz="1800" b="0" dirty="0">
                          <a:solidFill>
                            <a:srgbClr val="222222"/>
                          </a:solidFill>
                          <a:latin typeface="Times New Roman" panose="02020603050405020304" pitchFamily="18" charset="0"/>
                          <a:cs typeface="Times New Roman" panose="02020603050405020304" pitchFamily="18" charset="0"/>
                        </a:rPr>
                        <a:t> Yuva </a:t>
                      </a:r>
                      <a:r>
                        <a:rPr sz="1800" b="0" dirty="0" err="1">
                          <a:solidFill>
                            <a:srgbClr val="222222"/>
                          </a:solidFill>
                          <a:latin typeface="Times New Roman" panose="02020603050405020304" pitchFamily="18" charset="0"/>
                          <a:cs typeface="Times New Roman" panose="02020603050405020304" pitchFamily="18" charset="0"/>
                        </a:rPr>
                        <a:t>tejasri</a:t>
                      </a:r>
                      <a:endParaRPr sz="1800" b="0" dirty="0">
                        <a:solidFill>
                          <a:srgbClr val="222222"/>
                        </a:solidFill>
                        <a:latin typeface="Times New Roman" panose="02020603050405020304" pitchFamily="18" charset="0"/>
                        <a:cs typeface="Times New Roman" panose="02020603050405020304" pitchFamily="18" charset="0"/>
                      </a:endParaRPr>
                    </a:p>
                  </a:txBody>
                  <a:tcPr anchor="ctr">
                    <a:solidFill>
                      <a:srgbClr val="FFFFFF"/>
                    </a:solidFill>
                  </a:tcPr>
                </a:tc>
                <a:tc>
                  <a:txBody>
                    <a:bodyPr/>
                    <a:lstStyle/>
                    <a:p>
                      <a:r>
                        <a:rPr sz="1800" b="0">
                          <a:solidFill>
                            <a:srgbClr val="222222"/>
                          </a:solidFill>
                          <a:latin typeface="Times New Roman" panose="02020603050405020304" pitchFamily="18" charset="0"/>
                          <a:cs typeface="Times New Roman" panose="02020603050405020304" pitchFamily="18" charset="0"/>
                        </a:rPr>
                        <a:t>Class design, Event &amp; Registration modules</a:t>
                      </a:r>
                    </a:p>
                  </a:txBody>
                  <a:tcPr anchor="ctr">
                    <a:solidFill>
                      <a:srgbClr val="FFFFFF"/>
                    </a:solidFill>
                  </a:tcPr>
                </a:tc>
                <a:extLst>
                  <a:ext uri="{0D108BD9-81ED-4DB2-BD59-A6C34878D82A}">
                    <a16:rowId xmlns:a16="http://schemas.microsoft.com/office/drawing/2014/main" val="10001"/>
                  </a:ext>
                </a:extLst>
              </a:tr>
              <a:tr h="762000">
                <a:tc>
                  <a:txBody>
                    <a:bodyPr/>
                    <a:lstStyle/>
                    <a:p>
                      <a:r>
                        <a:rPr sz="1800" b="1" dirty="0">
                          <a:solidFill>
                            <a:srgbClr val="222222"/>
                          </a:solidFill>
                          <a:latin typeface="Times New Roman" panose="02020603050405020304" pitchFamily="18" charset="0"/>
                          <a:cs typeface="Times New Roman" panose="02020603050405020304" pitchFamily="18" charset="0"/>
                        </a:rPr>
                        <a:t>25B11AI164</a:t>
                      </a:r>
                    </a:p>
                  </a:txBody>
                  <a:tcPr anchor="ctr">
                    <a:solidFill>
                      <a:srgbClr val="EAF1F7"/>
                    </a:solidFill>
                  </a:tcPr>
                </a:tc>
                <a:tc>
                  <a:txBody>
                    <a:bodyPr/>
                    <a:lstStyle/>
                    <a:p>
                      <a:r>
                        <a:rPr sz="1800" b="1" u="none" dirty="0">
                          <a:solidFill>
                            <a:srgbClr val="222222"/>
                          </a:solidFill>
                          <a:latin typeface="Times New Roman" panose="02020603050405020304" pitchFamily="18" charset="0"/>
                          <a:cs typeface="Times New Roman" panose="02020603050405020304" pitchFamily="18" charset="0"/>
                        </a:rPr>
                        <a:t>Burra Bobby </a:t>
                      </a:r>
                    </a:p>
                  </a:txBody>
                  <a:tcPr anchor="ctr">
                    <a:solidFill>
                      <a:srgbClr val="EAF1F7"/>
                    </a:solidFill>
                  </a:tcPr>
                </a:tc>
                <a:tc>
                  <a:txBody>
                    <a:bodyPr/>
                    <a:lstStyle/>
                    <a:p>
                      <a:r>
                        <a:rPr sz="1800" b="0">
                          <a:solidFill>
                            <a:srgbClr val="222222"/>
                          </a:solidFill>
                          <a:latin typeface="Times New Roman" panose="02020603050405020304" pitchFamily="18" charset="0"/>
                          <a:cs typeface="Times New Roman" panose="02020603050405020304" pitchFamily="18" charset="0"/>
                        </a:rPr>
                        <a:t>Coding – core modules &amp; file handling</a:t>
                      </a:r>
                    </a:p>
                  </a:txBody>
                  <a:tcPr anchor="ctr">
                    <a:solidFill>
                      <a:srgbClr val="EAF1F7"/>
                    </a:solidFill>
                  </a:tcPr>
                </a:tc>
                <a:extLst>
                  <a:ext uri="{0D108BD9-81ED-4DB2-BD59-A6C34878D82A}">
                    <a16:rowId xmlns:a16="http://schemas.microsoft.com/office/drawing/2014/main" val="10002"/>
                  </a:ext>
                </a:extLst>
              </a:tr>
              <a:tr h="762000">
                <a:tc>
                  <a:txBody>
                    <a:bodyPr/>
                    <a:lstStyle/>
                    <a:p>
                      <a:r>
                        <a:rPr sz="1800" b="0" dirty="0">
                          <a:solidFill>
                            <a:srgbClr val="222222"/>
                          </a:solidFill>
                          <a:latin typeface="Times New Roman" panose="02020603050405020304" pitchFamily="18" charset="0"/>
                          <a:cs typeface="Times New Roman" panose="02020603050405020304" pitchFamily="18" charset="0"/>
                        </a:rPr>
                        <a:t>25B11AI292</a:t>
                      </a:r>
                    </a:p>
                  </a:txBody>
                  <a:tcPr anchor="ctr">
                    <a:solidFill>
                      <a:srgbClr val="FFFFFF"/>
                    </a:solidFill>
                  </a:tcPr>
                </a:tc>
                <a:tc>
                  <a:txBody>
                    <a:bodyPr/>
                    <a:lstStyle/>
                    <a:p>
                      <a:r>
                        <a:rPr sz="1800" b="0" dirty="0">
                          <a:solidFill>
                            <a:srgbClr val="222222"/>
                          </a:solidFill>
                          <a:latin typeface="Times New Roman" panose="02020603050405020304" pitchFamily="18" charset="0"/>
                          <a:cs typeface="Times New Roman" panose="02020603050405020304" pitchFamily="18" charset="0"/>
                        </a:rPr>
                        <a:t>Edupuganti </a:t>
                      </a:r>
                      <a:r>
                        <a:rPr lang="en-IN" sz="1800" b="0" dirty="0">
                          <a:solidFill>
                            <a:srgbClr val="222222"/>
                          </a:solidFill>
                          <a:latin typeface="Times New Roman" panose="02020603050405020304" pitchFamily="18" charset="0"/>
                          <a:cs typeface="Times New Roman" panose="02020603050405020304" pitchFamily="18" charset="0"/>
                        </a:rPr>
                        <a:t>T</a:t>
                      </a:r>
                      <a:r>
                        <a:rPr sz="1800" b="0" dirty="0" err="1">
                          <a:solidFill>
                            <a:srgbClr val="222222"/>
                          </a:solidFill>
                          <a:latin typeface="Times New Roman" panose="02020603050405020304" pitchFamily="18" charset="0"/>
                          <a:cs typeface="Times New Roman" panose="02020603050405020304" pitchFamily="18" charset="0"/>
                        </a:rPr>
                        <a:t>ejaswini</a:t>
                      </a:r>
                      <a:r>
                        <a:rPr sz="1800" b="0" dirty="0">
                          <a:solidFill>
                            <a:srgbClr val="222222"/>
                          </a:solidFill>
                          <a:latin typeface="Times New Roman" panose="02020603050405020304" pitchFamily="18" charset="0"/>
                          <a:cs typeface="Times New Roman" panose="02020603050405020304" pitchFamily="18" charset="0"/>
                        </a:rPr>
                        <a:t> </a:t>
                      </a:r>
                    </a:p>
                  </a:txBody>
                  <a:tcPr anchor="ctr">
                    <a:solidFill>
                      <a:srgbClr val="FFFFFF"/>
                    </a:solidFill>
                  </a:tcPr>
                </a:tc>
                <a:tc>
                  <a:txBody>
                    <a:bodyPr/>
                    <a:lstStyle/>
                    <a:p>
                      <a:r>
                        <a:rPr sz="1800" b="0">
                          <a:solidFill>
                            <a:srgbClr val="222222"/>
                          </a:solidFill>
                          <a:latin typeface="Times New Roman" panose="02020603050405020304" pitchFamily="18" charset="0"/>
                          <a:cs typeface="Times New Roman" panose="02020603050405020304" pitchFamily="18" charset="0"/>
                        </a:rPr>
                        <a:t>Testing, debugging &amp; report generation</a:t>
                      </a:r>
                    </a:p>
                  </a:txBody>
                  <a:tcPr anchor="ctr">
                    <a:solidFill>
                      <a:srgbClr val="FFFFFF"/>
                    </a:solidFill>
                  </a:tcPr>
                </a:tc>
                <a:extLst>
                  <a:ext uri="{0D108BD9-81ED-4DB2-BD59-A6C34878D82A}">
                    <a16:rowId xmlns:a16="http://schemas.microsoft.com/office/drawing/2014/main" val="10003"/>
                  </a:ext>
                </a:extLst>
              </a:tr>
              <a:tr h="762000">
                <a:tc>
                  <a:txBody>
                    <a:bodyPr/>
                    <a:lstStyle/>
                    <a:p>
                      <a:r>
                        <a:rPr sz="1800" b="0" dirty="0">
                          <a:solidFill>
                            <a:srgbClr val="222222"/>
                          </a:solidFill>
                          <a:latin typeface="Times New Roman" panose="02020603050405020304" pitchFamily="18" charset="0"/>
                          <a:cs typeface="Times New Roman" panose="02020603050405020304" pitchFamily="18" charset="0"/>
                        </a:rPr>
                        <a:t>25B11AI329</a:t>
                      </a:r>
                    </a:p>
                  </a:txBody>
                  <a:tcPr anchor="ctr">
                    <a:solidFill>
                      <a:srgbClr val="EAF1F7"/>
                    </a:solidFill>
                  </a:tcPr>
                </a:tc>
                <a:tc>
                  <a:txBody>
                    <a:bodyPr/>
                    <a:lstStyle/>
                    <a:p>
                      <a:r>
                        <a:rPr sz="1800" b="0" dirty="0" err="1">
                          <a:solidFill>
                            <a:srgbClr val="222222"/>
                          </a:solidFill>
                          <a:latin typeface="Times New Roman" panose="02020603050405020304" pitchFamily="18" charset="0"/>
                          <a:cs typeface="Times New Roman" panose="02020603050405020304" pitchFamily="18" charset="0"/>
                        </a:rPr>
                        <a:t>Garikipati</a:t>
                      </a:r>
                      <a:r>
                        <a:rPr sz="1800" b="0" dirty="0">
                          <a:solidFill>
                            <a:srgbClr val="222222"/>
                          </a:solidFill>
                          <a:latin typeface="Times New Roman" panose="02020603050405020304" pitchFamily="18" charset="0"/>
                          <a:cs typeface="Times New Roman" panose="02020603050405020304" pitchFamily="18" charset="0"/>
                        </a:rPr>
                        <a:t>  Likitha </a:t>
                      </a:r>
                    </a:p>
                  </a:txBody>
                  <a:tcPr anchor="ctr">
                    <a:solidFill>
                      <a:srgbClr val="EAF1F7"/>
                    </a:solidFill>
                  </a:tcPr>
                </a:tc>
                <a:tc>
                  <a:txBody>
                    <a:bodyPr/>
                    <a:lstStyle/>
                    <a:p>
                      <a:r>
                        <a:rPr sz="1800" b="0" dirty="0">
                          <a:solidFill>
                            <a:srgbClr val="222222"/>
                          </a:solidFill>
                          <a:latin typeface="Times New Roman" panose="02020603050405020304" pitchFamily="18" charset="0"/>
                          <a:cs typeface="Times New Roman" panose="02020603050405020304" pitchFamily="18" charset="0"/>
                        </a:rPr>
                        <a:t>UI design, documentation &amp; presentation</a:t>
                      </a:r>
                    </a:p>
                  </a:txBody>
                  <a:tcPr anchor="ctr">
                    <a:solidFill>
                      <a:srgbClr val="EAF1F7"/>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80977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9C0285F-93AB-F1ED-9404-7BA7181450BB}"/>
              </a:ext>
            </a:extLst>
          </p:cNvPr>
          <p:cNvSpPr>
            <a:spLocks noGrp="1"/>
          </p:cNvSpPr>
          <p:nvPr>
            <p:ph type="dt" sz="half" idx="1"/>
          </p:nvPr>
        </p:nvSpPr>
        <p:spPr/>
        <p:txBody>
          <a:bodyPr/>
          <a:lstStyle/>
          <a:p>
            <a:r>
              <a:rPr lang="en-US" dirty="0"/>
              <a:t>25/08/2026</a:t>
            </a:r>
          </a:p>
        </p:txBody>
      </p:sp>
      <p:sp>
        <p:nvSpPr>
          <p:cNvPr id="5" name="Slide Number Placeholder 4">
            <a:extLst>
              <a:ext uri="{FF2B5EF4-FFF2-40B4-BE49-F238E27FC236}">
                <a16:creationId xmlns:a16="http://schemas.microsoft.com/office/drawing/2014/main" id="{62FA9194-EE25-3196-F348-A230F71DC180}"/>
              </a:ext>
            </a:extLst>
          </p:cNvPr>
          <p:cNvSpPr>
            <a:spLocks noGrp="1"/>
          </p:cNvSpPr>
          <p:nvPr>
            <p:ph type="sldNum" sz="quarter" idx="3"/>
          </p:nvPr>
        </p:nvSpPr>
        <p:spPr/>
        <p:txBody>
          <a:bodyPr/>
          <a:lstStyle/>
          <a:p>
            <a:fld id="{9359D16F-76A5-41BA-ADDD-CBF352B33DDD}" type="slidenum">
              <a:rPr lang="en-IN" smtClean="0"/>
              <a:t>12</a:t>
            </a:fld>
            <a:endParaRPr lang="en-IN" dirty="0"/>
          </a:p>
        </p:txBody>
      </p:sp>
      <p:pic>
        <p:nvPicPr>
          <p:cNvPr id="9" name="Content Placeholder 8">
            <a:extLst>
              <a:ext uri="{FF2B5EF4-FFF2-40B4-BE49-F238E27FC236}">
                <a16:creationId xmlns:a16="http://schemas.microsoft.com/office/drawing/2014/main" id="{77F12244-7942-B087-F3A3-A099A60F4490}"/>
              </a:ext>
            </a:extLst>
          </p:cNvPr>
          <p:cNvPicPr>
            <a:picLocks noGrp="1" noChangeAspect="1"/>
          </p:cNvPicPr>
          <p:nvPr>
            <p:ph/>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752600" y="1447800"/>
            <a:ext cx="8152606" cy="4530725"/>
          </a:xfrm>
          <a:prstGeom prst="rect">
            <a:avLst/>
          </a:prstGeom>
          <a:ln>
            <a:noFill/>
          </a:ln>
          <a:effectLst>
            <a:softEdge rad="112500"/>
          </a:effectLst>
        </p:spPr>
      </p:pic>
    </p:spTree>
    <p:extLst>
      <p:ext uri="{BB962C8B-B14F-4D97-AF65-F5344CB8AC3E}">
        <p14:creationId xmlns:p14="http://schemas.microsoft.com/office/powerpoint/2010/main" val="1453968739"/>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931</TotalTime>
  <Words>640</Words>
  <Application>Microsoft Office PowerPoint</Application>
  <PresentationFormat>Widescreen</PresentationFormat>
  <Paragraphs>121</Paragraphs>
  <Slides>12</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Times New Roman</vt:lpstr>
      <vt:lpstr>Calibri</vt:lpstr>
      <vt:lpstr>Wingdings</vt:lpstr>
      <vt:lpstr>Calibri Light</vt:lpstr>
      <vt:lpstr>Maiandra GD</vt:lpstr>
      <vt:lpstr>Arial Rounded MT Bold</vt:lpstr>
      <vt:lpstr>Aharoni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bobby burra</dc:creator>
  <cp:lastModifiedBy>bobby burra</cp:lastModifiedBy>
  <cp:revision>103</cp:revision>
  <cp:lastPrinted>2025-09-02T05:24:44Z</cp:lastPrinted>
  <dcterms:created xsi:type="dcterms:W3CDTF">2025-05-29T13:02:32Z</dcterms:created>
  <dcterms:modified xsi:type="dcterms:W3CDTF">2026-10-29T11:38:44Z</dcterms:modified>
</cp:coreProperties>
</file>