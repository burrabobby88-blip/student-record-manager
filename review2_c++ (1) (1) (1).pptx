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4"/>
  </p:notesMasterIdLst>
  <p:sldIdLst>
    <p:sldId id="256" r:id="rId2"/>
    <p:sldId id="325" r:id="rId3"/>
    <p:sldId id="326" r:id="rId4"/>
    <p:sldId id="327" r:id="rId5"/>
    <p:sldId id="328" r:id="rId6"/>
    <p:sldId id="329" r:id="rId7"/>
    <p:sldId id="330" r:id="rId8"/>
    <p:sldId id="335" r:id="rId9"/>
    <p:sldId id="331" r:id="rId10"/>
    <p:sldId id="333" r:id="rId11"/>
    <p:sldId id="334" r:id="rId12"/>
    <p:sldId id="324" r:id="rId13"/>
  </p:sldIdLst>
  <p:sldSz cx="12192000" cy="6858000"/>
  <p:notesSz cx="6858000" cy="12192000"/>
  <p:embeddedFontLst>
    <p:embeddedFont>
      <p:font typeface="Aharoni" panose="02010803020104030203" pitchFamily="2" charset="-79"/>
      <p:bold r:id="rId15"/>
    </p:embeddedFont>
    <p:embeddedFont>
      <p:font typeface="Arial Rounded MT Bold" panose="020F0704030504030204" pitchFamily="34" charset="0"/>
      <p:regular r:id="rId16"/>
    </p:embeddedFont>
    <p:embeddedFont>
      <p:font typeface="Maiandra GD" panose="020E0502030308020204" pitchFamily="34" charset="0"/>
      <p:regular r:id="rId17"/>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6405" autoAdjust="0"/>
  </p:normalViewPr>
  <p:slideViewPr>
    <p:cSldViewPr>
      <p:cViewPr varScale="1">
        <p:scale>
          <a:sx n="71" d="100"/>
          <a:sy n="71" d="100"/>
        </p:scale>
        <p:origin x="97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671638" cy="81562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185095" y="0"/>
            <a:ext cx="1671638" cy="815623"/>
          </a:xfrm>
          <a:prstGeom prst="rect">
            <a:avLst/>
          </a:prstGeom>
        </p:spPr>
        <p:txBody>
          <a:bodyPr vert="horz" lIns="91440" tIns="45720" rIns="91440" bIns="45720" rtlCol="0"/>
          <a:lstStyle>
            <a:lvl1pPr algn="r">
              <a:defRPr sz="1200"/>
            </a:lvl1pPr>
          </a:lstStyle>
          <a:p>
            <a:fld id="{44B65459-4C01-9248-BDAA-F28591FAF6F5}" type="datetimeFigureOut">
              <a:rPr lang="en-US" smtClean="0"/>
              <a:t>9/24/2026</a:t>
            </a:fld>
            <a:endParaRPr lang="en-US"/>
          </a:p>
        </p:txBody>
      </p:sp>
      <p:sp>
        <p:nvSpPr>
          <p:cNvPr id="4" name="Slide Image Placeholder 3"/>
          <p:cNvSpPr>
            <a:spLocks noGrp="1" noRot="1" noChangeAspect="1"/>
          </p:cNvSpPr>
          <p:nvPr>
            <p:ph type="sldImg" idx="2"/>
          </p:nvPr>
        </p:nvSpPr>
        <p:spPr>
          <a:xfrm>
            <a:off x="-2947988" y="2032000"/>
            <a:ext cx="9753601"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5763" y="7823200"/>
            <a:ext cx="3086100" cy="6400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5440380"/>
            <a:ext cx="1671638" cy="81562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185095" y="15440380"/>
            <a:ext cx="1671638" cy="815621"/>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2</a:t>
            </a:fld>
            <a:endParaRPr lang="en-US"/>
          </a:p>
        </p:txBody>
      </p:sp>
    </p:spTree>
    <p:extLst>
      <p:ext uri="{BB962C8B-B14F-4D97-AF65-F5344CB8AC3E}">
        <p14:creationId xmlns:p14="http://schemas.microsoft.com/office/powerpoint/2010/main" val="386282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6</a:t>
            </a:fld>
            <a:endParaRPr lang="en-US"/>
          </a:p>
        </p:txBody>
      </p:sp>
    </p:spTree>
    <p:extLst>
      <p:ext uri="{BB962C8B-B14F-4D97-AF65-F5344CB8AC3E}">
        <p14:creationId xmlns:p14="http://schemas.microsoft.com/office/powerpoint/2010/main" val="8277027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3DCFA7E3-AF1E-4675-AD18-D5B679F37F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4E6D2F1-D737-43DE-B4CE-C454EF7BBD4A}"/>
              </a:ext>
            </a:extLst>
          </p:cNvPr>
          <p:cNvSpPr>
            <a:spLocks noGrp="1"/>
          </p:cNvSpPr>
          <p:nvPr>
            <p:ph type="title"/>
          </p:nvPr>
        </p:nvSpPr>
        <p:spPr>
          <a:xfrm>
            <a:off x="1524000" y="1854199"/>
            <a:ext cx="9144000" cy="1655763"/>
          </a:xfrm>
        </p:spPr>
        <p:txBody>
          <a:bodyPr rtlCol="0" anchor="b"/>
          <a:lstStyle>
            <a:lvl1pPr lvl="0" algn="ctr">
              <a:defRPr lang="en-US" sz="6000" dirty="0"/>
            </a:lvl1pPr>
          </a:lstStyle>
          <a:p>
            <a:r>
              <a:rPr lang="en-US" dirty="0"/>
              <a:t>Click to edit Master title style</a:t>
            </a:r>
          </a:p>
        </p:txBody>
      </p:sp>
      <p:sp>
        <p:nvSpPr>
          <p:cNvPr id="3" name="Subtitle 2">
            <a:extLst>
              <a:ext uri="{32171CF1-2CD1-4848-A55A-5A508E25A3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4F51DF-EF08-4C97-A330-FD7D92F0EA98}"/>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pic>
        <p:nvPicPr>
          <p:cNvPr id="4" name="Picture 3">
            <a:extLst>
              <a:ext uri="{C1EB77FD-C848-422B-B273-451CDA41F4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a:extLst>
              <a:ext uri="{C687AB22-C009-4796-A595-4B274F53E9E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EC38CB-622C-4106-803A-85E3D5477226}"/>
              </a:ext>
            </a:extLst>
          </p:cNvPr>
          <p:cNvSpPr>
            <a:spLocks noGrp="1"/>
          </p:cNvSpPr>
          <p:nvPr>
            <p:ph type="ftr" sz="quarter" idx="11"/>
          </p:nvPr>
        </p:nvSpPr>
        <p:spPr/>
        <p:txBody>
          <a:bodyPr rtlCol="0"/>
          <a:lstStyle>
            <a:lvl1pPr lvl="0"/>
          </a:lstStyle>
          <a:p>
            <a:r>
              <a:rPr lang="en-US"/>
              <a:t>PBL Course Name: Object Oriented Programming through C++(2501CS08)     REVIEW-1</a:t>
            </a:r>
            <a:endParaRPr lang="en-US" dirty="0"/>
          </a:p>
        </p:txBody>
      </p:sp>
      <p:sp>
        <p:nvSpPr>
          <p:cNvPr id="6" name="Slide Number Placeholder 5">
            <a:extLst>
              <a:ext uri="{30F4214F-3E4E-4B8B-8AC2-BF59D50B2CD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5D679E-58E0-45F1-BEFC-163C6EEC181D}"/>
              </a:ext>
            </a:extLst>
          </p:cNvPr>
          <p:cNvSpPr>
            <a:spLocks noGrp="1"/>
          </p:cNvSpPr>
          <p:nvPr>
            <p:ph type="sldNum" sz="quarter" idx="12"/>
          </p:nvPr>
        </p:nvSpPr>
        <p:spPr/>
        <p:txBody>
          <a:bodyPr rtlCol="0"/>
          <a:lstStyle>
            <a:lvl1pPr lvl="0"/>
          </a:lstStyle>
          <a:p>
            <a:r>
              <a:rPr lang="en-US" dirty="0"/>
              <a:t>&lt;#&gt;</a:t>
            </a:r>
          </a:p>
        </p:txBody>
      </p:sp>
      <p:sp>
        <p:nvSpPr>
          <p:cNvPr id="7" name="Date Placeholder 3">
            <a:extLst>
              <a:ext uri="{02364871-6258-47BB-A41D-1E9BEBD3EA9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E775BF1-9C64-4531-A7E2-730347FD3CA5}"/>
              </a:ext>
            </a:extLst>
          </p:cNvPr>
          <p:cNvSpPr>
            <a:spLocks noGrp="1"/>
          </p:cNvSpPr>
          <p:nvPr>
            <p:ph type="dt" sz="half" idx="10"/>
          </p:nvPr>
        </p:nvSpPr>
        <p:spPr/>
        <p:txBody>
          <a:bodyPr rtlCol="0"/>
          <a:lstStyle>
            <a:lvl1pPr lvl="0"/>
          </a:lstStyle>
          <a:p>
            <a:fld id="{23B885CB-12B0-4AB7-A523-856A576656C9}" type="datetime1">
              <a:rPr lang="en-US" smtClean="0"/>
              <a:t>9/24/2026</a:t>
            </a:fld>
            <a:endParaRPr lang="en-US" dirty="0"/>
          </a:p>
        </p:txBody>
      </p:sp>
    </p:spTree>
    <p:extLst>
      <p:ext uri="{7D129387-9967-4C73-939D-69EF041DFD9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dirty="0"/>
              <a:t>Click to edit Master text styles</a:t>
            </a:r>
          </a:p>
        </p:txBody>
      </p:sp>
      <p:sp>
        <p:nvSpPr>
          <p:cNvPr id="3" name="Date Placeholder 2">
            <a:extLst>
              <a:ext uri="{C7EE3D1E-6A2F-4B40-9445-6784FC740A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C20F1802-9C65-458A-8FBF-F4B557FF2340}" type="datetime1">
              <a:rPr lang="en-US" smtClean="0"/>
              <a:t>9/24/2026</a:t>
            </a:fld>
            <a:endParaRPr lang="en-US" dirty="0"/>
          </a:p>
        </p:txBody>
      </p:sp>
      <p:sp>
        <p:nvSpPr>
          <p:cNvPr id="4" name="Footer Placeholder 3">
            <a:extLst>
              <a:ext uri="{E2B100E3-D1A2-4814-971B-1F28BC986B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pic>
        <p:nvPicPr>
          <p:cNvPr id="5" name="Picture 2">
            <a:extLst>
              <a:ext uri="{DAD87817-DB1B-4DE8-BD41-41BB3E99A74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t>‹#›</a:t>
            </a:fld>
            <a:endParaRPr lang="en-US" dirty="0"/>
          </a:p>
        </p:txBody>
      </p:sp>
    </p:spTree>
    <p:extLst>
      <p:ext uri="{E791D5F0-FCE4-45B8-828D-F7D7E855498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a:extLst>
              <a:ext uri="{2A124749-B5E7-4428-BF59-41C47B6A61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a:extLst>
              <a:ext uri="{E7A761B9-81CB-49B2-8BE6-983B6B07B3D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471AC3-982D-4B96-9E59-D3B6F74D9039}"/>
              </a:ext>
            </a:extLst>
          </p:cNvPr>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E761D253-940C-44B0-8F51-8C8A37AEAF73}" type="datetime1">
              <a:rPr lang="en-US" smtClean="0"/>
              <a:t>9/24/2026</a:t>
            </a:fld>
            <a:endParaRPr lang="en-US" dirty="0"/>
          </a:p>
        </p:txBody>
      </p:sp>
      <p:sp>
        <p:nvSpPr>
          <p:cNvPr id="4" name="Footer Placeholder 3">
            <a:extLst>
              <a:ext uri="{7A687B93-B742-4FC6-AC3F-36C63D4DF7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844C2E-6153-4C88-A824-95DE18C30385}"/>
              </a:ext>
            </a:extLst>
          </p:cNvPr>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sp>
        <p:nvSpPr>
          <p:cNvPr id="5" name="Slide Number Placeholder 3">
            <a:extLst>
              <a:ext uri="{A59E037D-D639-4F65-9477-94A0EBCDC4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C0A76B5-951D-4394-8F2D-A4E34AC06D08}"/>
              </a:ext>
            </a:extLst>
          </p:cNvPr>
          <p:cNvSpPr>
            <a:spLocks noGrp="1"/>
          </p:cNvSpPr>
          <p:nvPr>
            <p:ph type="sldNum" sz="quarter" idx="12"/>
          </p:nvPr>
        </p:nvSpPr>
        <p:spPr>
          <a:xfrm>
            <a:off x="10272464" y="6356350"/>
            <a:ext cx="1081336" cy="365125"/>
          </a:xfrm>
        </p:spPr>
        <p:txBody>
          <a:bodyPr rtlCol="0"/>
          <a:lstStyle/>
          <a:p>
            <a:fld id="{D9C5B093-D3DD-4808-813A-F58BF8E67773}" type="slidenum">
              <a:t>‹#›</a:t>
            </a:fld>
            <a:endParaRPr lang="en-US" dirty="0"/>
          </a:p>
        </p:txBody>
      </p:sp>
    </p:spTree>
    <p:extLst>
      <p:ext uri="{917857EF-1D39-4225-A829-037EB1D2793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48EA39CE-E158-4B2A-99CD-545B14A22D3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313CDBB-BA82-4DED-973B-07A500BC5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76CEBE57-5AC2-4233-9D99-CAE469A4C85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438A3C5-0C27-48D9-9FD4-D71686301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5757E326-5F3E-43A1-830E-27FE2CE96B3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FB99B2-34CB-4F0C-AABD-9CC4327C4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022B5FF2-DAF6-4310-9A1D-797D39C1E342}" type="datetime1">
              <a:rPr lang="en-US" smtClean="0"/>
              <a:t>9/24/2026</a:t>
            </a:fld>
            <a:endParaRPr lang="en-US" dirty="0"/>
          </a:p>
        </p:txBody>
      </p:sp>
      <p:sp>
        <p:nvSpPr>
          <p:cNvPr id="5" name="Footer Placeholder 4">
            <a:extLst>
              <a:ext uri="{71906065-35B4-4935-A9D1-FD668DE1E5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7A5B885-A2DA-46BA-BC42-719D5CA3E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PBL Course Name: Object Oriented Programming through C++(2501CS08)     REVIEW-1</a:t>
            </a:r>
            <a:endParaRPr lang="en-US" dirty="0"/>
          </a:p>
        </p:txBody>
      </p:sp>
      <p:sp>
        <p:nvSpPr>
          <p:cNvPr id="6" name="Slide Number Placeholder 5">
            <a:extLst>
              <a:ext uri="{35F2950A-B1CB-4727-AB58-367C2C82CE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979ABAE-2F0E-462F-935B-AC49E1A2F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exels.com/photo/thank-you-signage-2072165/"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 name=""/>
        <p:cNvGrpSpPr/>
        <p:nvPr/>
      </p:nvGrpSpPr>
      <p:grpSpPr>
        <a:xfrm>
          <a:off x="0" y="0"/>
          <a:ext cx="0" cy="0"/>
          <a:chOff x="0" y="0"/>
          <a:chExt cx="0" cy="0"/>
        </a:xfrm>
      </p:grpSpPr>
      <p:sp>
        <p:nvSpPr>
          <p:cNvPr id="2" name="Title 1">
            <a:extLst>
              <a:ext uri="{5173A155-D39B-4A4B-8D04-AEDF7C7451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635022-F8A5-4229-B18F-290C3D3C64FB}"/>
              </a:ext>
            </a:extLst>
          </p:cNvPr>
          <p:cNvSpPr txBox="1"/>
          <p:nvPr/>
        </p:nvSpPr>
        <p:spPr>
          <a:xfrm>
            <a:off x="1055440" y="1700808"/>
            <a:ext cx="10696612" cy="1944216"/>
          </a:xfrm>
          <a:prstGeom prst="rect">
            <a:avLst/>
          </a:prstGeom>
        </p:spPr>
        <p:txBody>
          <a:bodyPr vert="horz" lIns="91440" tIns="45720" rIns="91440" bIns="45720" rtlCol="0" anchor="b">
            <a:noAutofit/>
          </a:bodyPr>
          <a:lstStyle/>
          <a:p>
            <a:pPr lvl="0" algn="ctr">
              <a:lnSpc>
                <a:spcPct val="90000"/>
              </a:lnSpc>
              <a:spcBef>
                <a:spcPct val="0"/>
              </a:spcBef>
            </a:pPr>
            <a:endParaRPr lang="en-US" sz="4000" dirty="0">
              <a:solidFill>
                <a:srgbClr val="00B050"/>
              </a:solidFill>
              <a:latin typeface="Arial Rounded MT Bold"/>
            </a:endParaRPr>
          </a:p>
        </p:txBody>
      </p:sp>
      <p:sp>
        <p:nvSpPr>
          <p:cNvPr id="3" name="Title 1">
            <a:extLst>
              <a:ext uri="{64856C8F-7DB4-4507-9010-97CF4AE55C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2140DA9-F832-465D-86DE-FEB6803F3756}"/>
              </a:ext>
            </a:extLst>
          </p:cNvPr>
          <p:cNvSpPr txBox="1"/>
          <p:nvPr/>
        </p:nvSpPr>
        <p:spPr>
          <a:xfrm>
            <a:off x="304800" y="2047099"/>
            <a:ext cx="10696612" cy="1575792"/>
          </a:xfrm>
          <a:prstGeom prst="rect">
            <a:avLst/>
          </a:prstGeom>
        </p:spPr>
        <p:txBody>
          <a:bodyPr vert="horz" lIns="91440" tIns="45720" rIns="91440" bIns="45720" rtlCol="0" anchor="b">
            <a:noAutofit/>
          </a:bodyPr>
          <a:lstStyle/>
          <a:p>
            <a:pPr lvl="0" algn="ctr">
              <a:lnSpc>
                <a:spcPct val="90000"/>
              </a:lnSpc>
              <a:spcBef>
                <a:spcPct val="0"/>
              </a:spcBef>
            </a:pPr>
            <a:r>
              <a:rPr lang="en-GB" sz="4800" b="1" dirty="0">
                <a:solidFill>
                  <a:schemeClr val="accent5">
                    <a:lumMod val="50000"/>
                  </a:schemeClr>
                </a:solidFill>
                <a:latin typeface="Times New Roman" panose="02020603050405020304" pitchFamily="18" charset="0"/>
                <a:ea typeface="Artifakt Element Light" panose="020B0303050000020004" pitchFamily="34" charset="0"/>
                <a:cs typeface="Times New Roman" panose="02020603050405020304" pitchFamily="18" charset="0"/>
              </a:rPr>
              <a:t>Student record manager</a:t>
            </a:r>
          </a:p>
          <a:p>
            <a:pPr lvl="0" algn="ctr">
              <a:lnSpc>
                <a:spcPct val="90000"/>
              </a:lnSpc>
              <a:spcBef>
                <a:spcPct val="0"/>
              </a:spcBef>
            </a:pPr>
            <a:endParaRPr lang="en-IN" sz="2800" dirty="0">
              <a:solidFill>
                <a:srgbClr val="C00000"/>
              </a:solidFill>
            </a:endParaRPr>
          </a:p>
          <a:p>
            <a:pPr lvl="0" algn="ctr">
              <a:lnSpc>
                <a:spcPct val="90000"/>
              </a:lnSpc>
              <a:spcBef>
                <a:spcPct val="0"/>
              </a:spcBef>
            </a:pPr>
            <a:endParaRPr lang="en-US" sz="2800" dirty="0">
              <a:solidFill>
                <a:srgbClr val="C00000"/>
              </a:solidFill>
              <a:latin typeface="Aharoni" panose="02010803020104030203" pitchFamily="2" charset="-79"/>
              <a:cs typeface="Aharoni" panose="02010803020104030203" pitchFamily="2" charset="-79"/>
            </a:endParaRPr>
          </a:p>
        </p:txBody>
      </p:sp>
      <p:sp>
        <p:nvSpPr>
          <p:cNvPr id="4" name="Title 1">
            <a:extLst>
              <a:ext uri="{FF2B5EF4-FFF2-40B4-BE49-F238E27FC236}">
                <a16:creationId xmlns:a16="http://schemas.microsoft.com/office/drawing/2014/main" id="{BB2A8C70-3A77-94EC-FC3D-FDF5B598157E}"/>
              </a:ext>
              <a:ext uri="{20663F85-F48B-43E1-96BA-3B1BE53937F7}">
                <a16:creationId xmlns:lc="http://schemas.openxmlformats.org/drawingml/2006/lockedCanvas"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533400" y="3294226"/>
            <a:ext cx="10696612" cy="2070254"/>
          </a:xfrm>
          <a:prstGeom prst="rect">
            <a:avLst/>
          </a:prstGeom>
        </p:spPr>
        <p:txBody>
          <a:bodyPr vert="horz" lIns="91440" tIns="45720" rIns="91440" bIns="45720" rtlCol="0" anchor="b">
            <a:noAutofit/>
          </a:bodyPr>
          <a:ls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a:lstStyle>
          <a:p>
            <a:pPr lvl="0">
              <a:lnSpc>
                <a:spcPct val="90000"/>
              </a:lnSpc>
              <a:spcBef>
                <a:spcPct val="0"/>
              </a:spcBef>
            </a:pPr>
            <a:r>
              <a:rPr lang="en-US" sz="3200" dirty="0">
                <a:solidFill>
                  <a:srgbClr val="FF0000"/>
                </a:solidFill>
                <a:latin typeface="Times New Roman" panose="02020603050405020304" pitchFamily="18" charset="0"/>
                <a:cs typeface="Times New Roman" panose="02020603050405020304" pitchFamily="18" charset="0"/>
              </a:rPr>
              <a:t>Course Instructor:                              Presented by:</a:t>
            </a:r>
            <a:endParaRPr lang="en-US" dirty="0">
              <a:solidFill>
                <a:srgbClr val="0000FF"/>
              </a:solidFill>
              <a:latin typeface="Times New Roman" panose="02020603050405020304" pitchFamily="18" charset="0"/>
              <a:cs typeface="Times New Roman" panose="02020603050405020304" pitchFamily="18" charset="0"/>
            </a:endParaRP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N.AKHILA, </a:t>
            </a:r>
            <a:r>
              <a:rPr lang="en-US" dirty="0" err="1">
                <a:solidFill>
                  <a:srgbClr val="0000FF"/>
                </a:solidFill>
                <a:latin typeface="Times New Roman" panose="02020603050405020304" pitchFamily="18" charset="0"/>
                <a:cs typeface="Times New Roman" panose="02020603050405020304" pitchFamily="18" charset="0"/>
              </a:rPr>
              <a:t>M.Tech</a:t>
            </a:r>
            <a:r>
              <a:rPr lang="en-US" dirty="0">
                <a:solidFill>
                  <a:srgbClr val="0000FF"/>
                </a:solidFill>
                <a:latin typeface="Times New Roman" panose="02020603050405020304" pitchFamily="18" charset="0"/>
                <a:cs typeface="Times New Roman" panose="02020603050405020304" pitchFamily="18" charset="0"/>
              </a:rPr>
              <a:t>  (</a:t>
            </a:r>
            <a:r>
              <a:rPr lang="en-US" dirty="0" err="1">
                <a:solidFill>
                  <a:srgbClr val="0000FF"/>
                </a:solidFill>
                <a:latin typeface="Times New Roman" panose="02020603050405020304" pitchFamily="18" charset="0"/>
                <a:cs typeface="Times New Roman" panose="02020603050405020304" pitchFamily="18" charset="0"/>
              </a:rPr>
              <a:t>Ph.D</a:t>
            </a:r>
            <a:r>
              <a:rPr lang="en-US" dirty="0">
                <a:solidFill>
                  <a:srgbClr val="0000FF"/>
                </a:solidFill>
                <a:latin typeface="Times New Roman" panose="02020603050405020304" pitchFamily="18" charset="0"/>
                <a:cs typeface="Times New Roman" panose="02020603050405020304" pitchFamily="18" charset="0"/>
              </a:rPr>
              <a:t>),</a:t>
            </a:r>
            <a:r>
              <a:rPr lang="en-US" sz="3600" b="1" dirty="0">
                <a:solidFill>
                  <a:srgbClr val="0000FF"/>
                </a:solidFill>
                <a:latin typeface="Times New Roman" panose="02020603050405020304" pitchFamily="18" charset="0"/>
                <a:cs typeface="Times New Roman" panose="02020603050405020304" pitchFamily="18" charset="0"/>
              </a:rPr>
              <a:t>	                               			</a:t>
            </a: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ASSISTANT PROFESSOR, </a:t>
            </a:r>
            <a:endParaRPr lang="en-US" sz="3600" dirty="0">
              <a:solidFill>
                <a:srgbClr val="0000FF"/>
              </a:solidFill>
              <a:latin typeface="Times New Roman" panose="02020603050405020304" pitchFamily="18" charset="0"/>
              <a:cs typeface="Times New Roman" panose="02020603050405020304" pitchFamily="18" charset="0"/>
            </a:endParaRP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AIML DEPTARTMENT</a:t>
            </a:r>
          </a:p>
        </p:txBody>
      </p:sp>
      <p:graphicFrame>
        <p:nvGraphicFramePr>
          <p:cNvPr id="6" name="Table 5">
            <a:extLst>
              <a:ext uri="{FF2B5EF4-FFF2-40B4-BE49-F238E27FC236}">
                <a16:creationId xmlns:a16="http://schemas.microsoft.com/office/drawing/2014/main" id="{C7F159A1-205A-9A84-5F29-BAC09BFFE55A}"/>
              </a:ext>
            </a:extLst>
          </p:cNvPr>
          <p:cNvGraphicFramePr>
            <a:graphicFrameLocks noGrp="1"/>
          </p:cNvGraphicFramePr>
          <p:nvPr>
            <p:extLst>
              <p:ext uri="{D42A27DB-BD31-4B8C-83A1-F6EECF244321}">
                <p14:modId xmlns:p14="http://schemas.microsoft.com/office/powerpoint/2010/main" val="1454723471"/>
              </p:ext>
            </p:extLst>
          </p:nvPr>
        </p:nvGraphicFramePr>
        <p:xfrm>
          <a:off x="6403746" y="4419600"/>
          <a:ext cx="4927600" cy="1280160"/>
        </p:xfrm>
        <a:graphic>
          <a:graphicData uri="http://schemas.openxmlformats.org/drawingml/2006/table">
            <a:tbl>
              <a:tblPr>
                <a:tableStyleId>{2D5ABB26-0587-4C30-8999-92F81FD0307C}</a:tableStyleId>
              </a:tblPr>
              <a:tblGrid>
                <a:gridCol w="1465244">
                  <a:extLst>
                    <a:ext uri="{9D8B030D-6E8A-4147-A177-3AD203B41FA5}">
                      <a16:colId xmlns:a16="http://schemas.microsoft.com/office/drawing/2014/main" val="4008646060"/>
                    </a:ext>
                  </a:extLst>
                </a:gridCol>
                <a:gridCol w="3462356">
                  <a:extLst>
                    <a:ext uri="{9D8B030D-6E8A-4147-A177-3AD203B41FA5}">
                      <a16:colId xmlns:a16="http://schemas.microsoft.com/office/drawing/2014/main" val="4177372121"/>
                    </a:ext>
                  </a:extLst>
                </a:gridCol>
              </a:tblGrid>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25B11AI057</a:t>
                      </a:r>
                      <a:r>
                        <a:rPr lang="en-IN" sz="1600" b="1" i="0" u="none" strike="noStrike" dirty="0">
                          <a:solidFill>
                            <a:srgbClr val="0000FF"/>
                          </a:solidFill>
                          <a:effectLst/>
                          <a:latin typeface="Times New Roman" panose="02020603050405020304" pitchFamily="18" charset="0"/>
                          <a:cs typeface="Times New Roman" panose="02020603050405020304" pitchFamily="18" charset="0"/>
                        </a:rPr>
                        <a:t>    </a:t>
                      </a:r>
                    </a:p>
                  </a:txBody>
                  <a:tcPr marL="6350" marR="6350" marT="6350" anchor="ctr"/>
                </a:tc>
                <a:tc>
                  <a:txBody>
                    <a:bodyPr/>
                    <a:lstStyle/>
                    <a:p>
                      <a:pPr algn="l" fontAlgn="ctr">
                        <a:buNone/>
                      </a:pPr>
                      <a:r>
                        <a:rPr lang="en-US" sz="1600" b="1" i="0" u="none" strike="noStrike" dirty="0">
                          <a:solidFill>
                            <a:srgbClr val="0000FF"/>
                          </a:solidFill>
                          <a:effectLst/>
                          <a:latin typeface="Times New Roman" panose="02020603050405020304" pitchFamily="18" charset="0"/>
                          <a:cs typeface="Times New Roman" panose="02020603050405020304" pitchFamily="18" charset="0"/>
                        </a:rPr>
                        <a:t> </a:t>
                      </a:r>
                      <a:r>
                        <a:rPr lang="en-US" sz="1600" b="0" i="0" u="none" strike="noStrike" dirty="0">
                          <a:solidFill>
                            <a:srgbClr val="0000FF"/>
                          </a:solidFill>
                          <a:effectLst/>
                          <a:latin typeface="Times New Roman" panose="02020603050405020304" pitchFamily="18" charset="0"/>
                          <a:cs typeface="Times New Roman" panose="02020603050405020304" pitchFamily="18" charset="0"/>
                        </a:rPr>
                        <a:t>ANYAM YUVA TEJA SRI</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4029920218"/>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25B11AI164</a:t>
                      </a:r>
                    </a:p>
                  </a:txBody>
                  <a:tcPr marL="6350" marR="6350" marT="6350" anchor="ctr"/>
                </a:tc>
                <a:tc>
                  <a:txBody>
                    <a:bodyPr/>
                    <a:lstStyle/>
                    <a:p>
                      <a:pPr algn="l" fontAlgn="ctr">
                        <a:buNone/>
                      </a:pPr>
                      <a:r>
                        <a:rPr lang="en-US" sz="1600" b="0" i="0" u="none" strike="noStrike" dirty="0">
                          <a:solidFill>
                            <a:srgbClr val="0000FF"/>
                          </a:solidFill>
                          <a:effectLst/>
                          <a:latin typeface="Times New Roman" panose="02020603050405020304" pitchFamily="18" charset="0"/>
                          <a:cs typeface="Times New Roman" panose="02020603050405020304" pitchFamily="18" charset="0"/>
                        </a:rPr>
                        <a:t>BURRA BOBBY </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2060361553"/>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25B11AI292</a:t>
                      </a:r>
                    </a:p>
                  </a:txBody>
                  <a:tcPr marL="6350" marR="6350" marT="6350" anchor="ctr"/>
                </a:tc>
                <a:tc>
                  <a:txBody>
                    <a:bodyPr/>
                    <a:lstStyle/>
                    <a:p>
                      <a:pPr algn="l" fontAlgn="ctr">
                        <a:buNone/>
                      </a:pPr>
                      <a:r>
                        <a:rPr lang="en-US" sz="1600" b="0" i="0" u="none" strike="noStrike" dirty="0">
                          <a:solidFill>
                            <a:srgbClr val="0000FF"/>
                          </a:solidFill>
                          <a:effectLst/>
                          <a:latin typeface="Times New Roman" panose="02020603050405020304" pitchFamily="18" charset="0"/>
                          <a:cs typeface="Times New Roman" panose="02020603050405020304" pitchFamily="18" charset="0"/>
                        </a:rPr>
                        <a:t>EDUPUGANTI TEJASWI</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2251409142"/>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25B11AI329</a:t>
                      </a:r>
                    </a:p>
                  </a:txBody>
                  <a:tcPr marL="6350" marR="6350" marT="6350" anchor="ctr"/>
                </a:tc>
                <a:tc>
                  <a:txBody>
                    <a:bodyPr/>
                    <a:lstStyle/>
                    <a:p>
                      <a:pPr algn="l" fontAlgn="ctr">
                        <a:buNone/>
                      </a:pPr>
                      <a:r>
                        <a:rPr lang="en-US" sz="1600" b="0" i="0" u="none" strike="noStrike" dirty="0">
                          <a:solidFill>
                            <a:srgbClr val="0000FF"/>
                          </a:solidFill>
                          <a:effectLst/>
                          <a:latin typeface="Times New Roman" panose="02020603050405020304" pitchFamily="18" charset="0"/>
                          <a:cs typeface="Times New Roman" panose="02020603050405020304" pitchFamily="18" charset="0"/>
                        </a:rPr>
                        <a:t>GARIKIPATI LIKHITHA</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3846112601"/>
                  </a:ext>
                </a:extLst>
              </a:tr>
            </a:tbl>
          </a:graphicData>
        </a:graphic>
      </p:graphicFrame>
    </p:spTree>
    <p:extLst>
      <p:ext uri="{59DB2955-81A9-4330-9517-4CB607EFC6F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p:txBody>
          <a:bodyPr>
            <a:normAutofit fontScale="77500" lnSpcReduction="20000"/>
          </a:bodyPr>
          <a:lstStyle/>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Project Abstract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Problem Statement &amp; Objectives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Planned Modules / Functions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Users of the system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Modules/Functionalities</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Architecture Diagram</a:t>
            </a:r>
          </a:p>
          <a:p>
            <a:pPr marL="914400" lvl="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Planning and Timeline Diagram</a:t>
            </a:r>
          </a:p>
          <a:p>
            <a:pPr marL="914400" lvl="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Role of each individual</a:t>
            </a: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24/09/2026</a:t>
            </a:r>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 Course Name: Object Oriented Programming through C++(2501CS08)     REVIEW-1</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2</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3412299" y="304800"/>
            <a:ext cx="5223386" cy="661720"/>
          </a:xfrm>
          <a:prstGeom prst="rect">
            <a:avLst/>
          </a:prstGeom>
          <a:noFill/>
        </p:spPr>
        <p:txBody>
          <a:bodyPr wrap="square">
            <a:spAutoFit/>
          </a:bodyPr>
          <a:lstStyle/>
          <a:p>
            <a:pPr lvl="0" algn="ctr">
              <a:lnSpc>
                <a:spcPct val="90000"/>
              </a:lnSpc>
              <a:spcBef>
                <a:spcPct val="0"/>
              </a:spcBef>
            </a:pPr>
            <a:r>
              <a:rPr lang="en-GB" sz="4000" b="1" dirty="0">
                <a:solidFill>
                  <a:srgbClr val="0000FF"/>
                </a:solidFill>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1780977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609600" y="1584119"/>
            <a:ext cx="10972800" cy="4953000"/>
          </a:xfrm>
        </p:spPr>
        <p:txBody>
          <a:bodyPr>
            <a:normAutofit/>
          </a:bodyPr>
          <a:lstStyle/>
          <a:p>
            <a:pPr algn="just">
              <a:lnSpc>
                <a:spcPct val="150000"/>
              </a:lnSpc>
            </a:pPr>
            <a:r>
              <a:rPr lang="en-IN" sz="2400" dirty="0">
                <a:latin typeface="Times New Roman" panose="02020603050405020304" pitchFamily="18" charset="0"/>
                <a:cs typeface="Times New Roman" panose="02020603050405020304" pitchFamily="18" charset="0"/>
              </a:rPr>
              <a:t>The Student Record Manager is a C++ application designed to efficiently manage and organize student information. It replaces manual record maintenance with a structured, object-oriented software solution. The system allows users to add, update, delete, search, and display student records from a centralized system. It can store details such as student ID, name, branch, year, marks, and contact information. The project applies core OOP principles such as classes, encapsulation, inheritance, and polymorphism to provide a modular and reusable design</a:t>
            </a: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a:xfrm>
            <a:off x="381000" y="6354557"/>
            <a:ext cx="1656183" cy="365125"/>
          </a:xfrm>
        </p:spPr>
        <p:txBody>
          <a:bodyPr/>
          <a:lstStyle/>
          <a:p>
            <a:r>
              <a:rPr lang="en-US" dirty="0"/>
              <a:t>24/09/2026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3</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3886200" y="381000"/>
            <a:ext cx="5223386" cy="661720"/>
          </a:xfrm>
          <a:prstGeom prst="rect">
            <a:avLst/>
          </a:prstGeom>
          <a:noFill/>
        </p:spPr>
        <p:txBody>
          <a:bodyPr wrap="square">
            <a:spAutoFit/>
          </a:bodyPr>
          <a:lstStyle/>
          <a:p>
            <a:pPr lvl="0" algn="ctr">
              <a:lnSpc>
                <a:spcPct val="90000"/>
              </a:lnSpc>
              <a:spcBef>
                <a:spcPct val="0"/>
              </a:spcBef>
            </a:pPr>
            <a:r>
              <a:rPr lang="en-GB" sz="4000" b="1" dirty="0">
                <a:solidFill>
                  <a:srgbClr val="0000FF"/>
                </a:solidFill>
                <a:latin typeface="Times New Roman" panose="02020603050405020304" pitchFamily="18" charset="0"/>
                <a:cs typeface="Times New Roman" panose="02020603050405020304" pitchFamily="18" charset="0"/>
              </a:rPr>
              <a:t>Project Abstract</a:t>
            </a:r>
          </a:p>
        </p:txBody>
      </p:sp>
    </p:spTree>
    <p:extLst>
      <p:ext uri="{BB962C8B-B14F-4D97-AF65-F5344CB8AC3E}">
        <p14:creationId xmlns:p14="http://schemas.microsoft.com/office/powerpoint/2010/main" val="1780977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69085" y="1447800"/>
            <a:ext cx="10515600" cy="4645495"/>
          </a:xfrm>
        </p:spPr>
        <p:txBody>
          <a:bodyPr>
            <a:normAutofit/>
          </a:bodyPr>
          <a:lstStyle/>
          <a:p>
            <a:pPr>
              <a:lnSpc>
                <a:spcPct val="100000"/>
              </a:lnSpc>
            </a:pPr>
            <a:r>
              <a:rPr lang="en-IN" sz="2200" b="1" dirty="0">
                <a:latin typeface="Times New Roman" panose="02020603050405020304" pitchFamily="18" charset="0"/>
                <a:cs typeface="Times New Roman" panose="02020603050405020304" pitchFamily="18" charset="0"/>
              </a:rPr>
              <a:t>Problem Statement :</a:t>
            </a:r>
          </a:p>
          <a:p>
            <a:pPr>
              <a:lnSpc>
                <a:spcPct val="100000"/>
              </a:lnSpc>
            </a:pPr>
            <a:r>
              <a:rPr lang="en-IN" sz="2200" dirty="0">
                <a:latin typeface="Times New Roman" panose="02020603050405020304" pitchFamily="18" charset="0"/>
                <a:cs typeface="Times New Roman" panose="02020603050405020304" pitchFamily="18" charset="0"/>
              </a:rPr>
              <a:t>Maintaining student records manually can be time-consuming and may result in data duplication, errors, difficulty in searching records, and loss of information.</a:t>
            </a:r>
          </a:p>
          <a:p>
            <a:pPr>
              <a:lnSpc>
                <a:spcPct val="100000"/>
              </a:lnSpc>
            </a:pPr>
            <a:r>
              <a:rPr lang="en-IN" sz="2200" b="1" dirty="0">
                <a:latin typeface="Times New Roman" panose="02020603050405020304" pitchFamily="18" charset="0"/>
                <a:cs typeface="Times New Roman" panose="02020603050405020304" pitchFamily="18" charset="0"/>
              </a:rPr>
              <a:t>Objectives:</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Provide a centralized system to manage student records.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Add and store student information efficiently.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Enable searching and viewing of student records.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Allow updating and deleting of existing records.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Reduce manual errors and duplicate entries.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Generate simple student performance reports</a:t>
            </a:r>
            <a:r>
              <a:rPr lang="en-IN" sz="2400" dirty="0">
                <a:latin typeface="Times New Roman" panose="02020603050405020304" pitchFamily="18" charset="0"/>
                <a:cs typeface="Times New Roman" panose="02020603050405020304" pitchFamily="18" charset="0"/>
              </a:rPr>
              <a:t>.</a:t>
            </a:r>
          </a:p>
          <a:p>
            <a:pPr marL="914400" indent="-457200">
              <a:lnSpc>
                <a:spcPct val="150000"/>
              </a:lnSpc>
              <a:buFont typeface="Wingdings" panose="05000000000000000000" pitchFamily="2" charset="2"/>
              <a:buChar char="Ø"/>
            </a:pPr>
            <a:endParaRPr lang="en-IN"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24/09/2026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4</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Problem Statement &amp; Objectives</a:t>
            </a:r>
          </a:p>
        </p:txBody>
      </p:sp>
    </p:spTree>
    <p:extLst>
      <p:ext uri="{BB962C8B-B14F-4D97-AF65-F5344CB8AC3E}">
        <p14:creationId xmlns:p14="http://schemas.microsoft.com/office/powerpoint/2010/main" val="1780977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708847" y="1739282"/>
            <a:ext cx="10515600" cy="4531419"/>
          </a:xfrm>
        </p:spPr>
        <p:txBody>
          <a:bodyPr>
            <a:normAutofit/>
          </a:bodyPr>
          <a:lstStyle/>
          <a:p>
            <a:pPr marL="914400" indent="-4572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Student Management Module</a:t>
            </a:r>
            <a:r>
              <a:rPr lang="en-IN" sz="2200" dirty="0">
                <a:latin typeface="Times New Roman" panose="02020603050405020304" pitchFamily="18" charset="0"/>
                <a:cs typeface="Times New Roman" panose="02020603050405020304" pitchFamily="18" charset="0"/>
              </a:rPr>
              <a:t> – Add, update, delete and display student records.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Search Module</a:t>
            </a:r>
            <a:r>
              <a:rPr lang="en-IN" sz="2200" dirty="0">
                <a:latin typeface="Times New Roman" panose="02020603050405020304" pitchFamily="18" charset="0"/>
                <a:cs typeface="Times New Roman" panose="02020603050405020304" pitchFamily="18" charset="0"/>
              </a:rPr>
              <a:t> – Search students using ID, name, or branch.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Marks Management Module</a:t>
            </a:r>
            <a:r>
              <a:rPr lang="en-IN" sz="2200" dirty="0">
                <a:latin typeface="Times New Roman" panose="02020603050405020304" pitchFamily="18" charset="0"/>
                <a:cs typeface="Times New Roman" panose="02020603050405020304" pitchFamily="18" charset="0"/>
              </a:rPr>
              <a:t> – Store and update marks or academic details.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Record Management Module</a:t>
            </a:r>
            <a:r>
              <a:rPr lang="en-IN" sz="2200" dirty="0">
                <a:latin typeface="Times New Roman" panose="02020603050405020304" pitchFamily="18" charset="0"/>
                <a:cs typeface="Times New Roman" panose="02020603050405020304" pitchFamily="18" charset="0"/>
              </a:rPr>
              <a:t> – Maintain student information systematically.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File Handling Module</a:t>
            </a:r>
            <a:r>
              <a:rPr lang="en-IN" sz="2200" dirty="0">
                <a:latin typeface="Times New Roman" panose="02020603050405020304" pitchFamily="18" charset="0"/>
                <a:cs typeface="Times New Roman" panose="02020603050405020304" pitchFamily="18" charset="0"/>
              </a:rPr>
              <a:t> – Store and retrieve student records from files.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Report Generation Module</a:t>
            </a:r>
            <a:r>
              <a:rPr lang="en-IN" sz="2200" dirty="0">
                <a:latin typeface="Times New Roman" panose="02020603050405020304" pitchFamily="18" charset="0"/>
                <a:cs typeface="Times New Roman" panose="02020603050405020304" pitchFamily="18" charset="0"/>
              </a:rPr>
              <a:t> – Display student details and performance summaries.</a:t>
            </a:r>
          </a:p>
          <a:p>
            <a:pPr marL="914400" indent="-457200">
              <a:lnSpc>
                <a:spcPct val="150000"/>
              </a:lnSpc>
              <a:buFont typeface="Wingdings" panose="05000000000000000000" pitchFamily="2" charset="2"/>
              <a:buChar char="Ø"/>
            </a:pPr>
            <a:endParaRPr lang="en-IN" sz="20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24/09/2026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5</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Planned Modules / Functions</a:t>
            </a:r>
          </a:p>
        </p:txBody>
      </p:sp>
    </p:spTree>
    <p:extLst>
      <p:ext uri="{BB962C8B-B14F-4D97-AF65-F5344CB8AC3E}">
        <p14:creationId xmlns:p14="http://schemas.microsoft.com/office/powerpoint/2010/main" val="178097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457200" y="1524000"/>
            <a:ext cx="10515600" cy="4531419"/>
          </a:xfrm>
        </p:spPr>
        <p:txBody>
          <a:bodyPr>
            <a:normAutofit/>
          </a:bodyPr>
          <a:lstStyle/>
          <a:p>
            <a:pPr marL="800100" lvl="0" indent="-342900">
              <a:lnSpc>
                <a:spcPct val="150000"/>
              </a:lnSpc>
              <a:buFont typeface="Wingdings" panose="05000000000000000000" pitchFamily="2" charset="2"/>
              <a:buChar char="Ø"/>
            </a:pPr>
            <a:r>
              <a:rPr lang="en-IN" sz="2400" b="1" dirty="0"/>
              <a:t>Administrator</a:t>
            </a:r>
            <a:r>
              <a:rPr lang="en-IN" sz="2400" dirty="0"/>
              <a:t> – Manages all student records. </a:t>
            </a:r>
          </a:p>
          <a:p>
            <a:pPr marL="800100" lvl="0" indent="-342900">
              <a:lnSpc>
                <a:spcPct val="150000"/>
              </a:lnSpc>
              <a:buFont typeface="Wingdings" panose="05000000000000000000" pitchFamily="2" charset="2"/>
              <a:buChar char="Ø"/>
            </a:pPr>
            <a:r>
              <a:rPr lang="en-IN" sz="2400" b="1" dirty="0"/>
              <a:t>Faculty</a:t>
            </a:r>
            <a:r>
              <a:rPr lang="en-IN" sz="2400" dirty="0"/>
              <a:t> – Adds, updates, and views academic information. </a:t>
            </a:r>
          </a:p>
          <a:p>
            <a:pPr marL="800100" lvl="0" indent="-342900">
              <a:lnSpc>
                <a:spcPct val="150000"/>
              </a:lnSpc>
              <a:buFont typeface="Wingdings" panose="05000000000000000000" pitchFamily="2" charset="2"/>
              <a:buChar char="Ø"/>
            </a:pPr>
            <a:r>
              <a:rPr lang="en-IN" sz="2400" b="1" dirty="0"/>
              <a:t>Students</a:t>
            </a:r>
            <a:r>
              <a:rPr lang="en-IN" sz="2400" dirty="0"/>
              <a:t> – Can view their personal and academic records. </a:t>
            </a:r>
          </a:p>
          <a:p>
            <a:pPr marL="800100" lvl="0" indent="-342900">
              <a:lnSpc>
                <a:spcPct val="150000"/>
              </a:lnSpc>
              <a:buFont typeface="Wingdings" panose="05000000000000000000" pitchFamily="2" charset="2"/>
              <a:buChar char="Ø"/>
            </a:pPr>
            <a:r>
              <a:rPr lang="en-IN" sz="2400" b="1" dirty="0"/>
              <a:t>System Operator</a:t>
            </a:r>
            <a:r>
              <a:rPr lang="en-IN" sz="2400" dirty="0"/>
              <a:t> – Maintains and manages stored data.</a:t>
            </a:r>
          </a:p>
          <a:p>
            <a:pPr marL="914400" indent="-457200">
              <a:lnSpc>
                <a:spcPct val="150000"/>
              </a:lnSpc>
              <a:buFont typeface="Wingdings" panose="05000000000000000000" pitchFamily="2" charset="2"/>
              <a:buChar char="Ø"/>
            </a:pPr>
            <a:endParaRPr lang="en-IN" sz="23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24/09/2026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6</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Users of the System</a:t>
            </a:r>
          </a:p>
        </p:txBody>
      </p:sp>
      <p:pic>
        <p:nvPicPr>
          <p:cNvPr id="6" name="Picture 5">
            <a:extLst>
              <a:ext uri="{FF2B5EF4-FFF2-40B4-BE49-F238E27FC236}">
                <a16:creationId xmlns:a16="http://schemas.microsoft.com/office/drawing/2014/main" id="{17F5AA54-090F-424D-997C-2962BEBED4BF}"/>
              </a:ext>
            </a:extLst>
          </p:cNvPr>
          <p:cNvPicPr>
            <a:picLocks noChangeAspect="1"/>
          </p:cNvPicPr>
          <p:nvPr/>
        </p:nvPicPr>
        <p:blipFill>
          <a:blip r:embed="rId3"/>
          <a:stretch>
            <a:fillRect/>
          </a:stretch>
        </p:blipFill>
        <p:spPr>
          <a:xfrm>
            <a:off x="8686800" y="1270308"/>
            <a:ext cx="3048000" cy="3540032"/>
          </a:xfrm>
          <a:prstGeom prst="rect">
            <a:avLst/>
          </a:prstGeom>
        </p:spPr>
      </p:pic>
    </p:spTree>
    <p:extLst>
      <p:ext uri="{BB962C8B-B14F-4D97-AF65-F5344CB8AC3E}">
        <p14:creationId xmlns:p14="http://schemas.microsoft.com/office/powerpoint/2010/main" val="1780977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41786" y="1156932"/>
            <a:ext cx="10515600" cy="5211969"/>
          </a:xfrm>
        </p:spPr>
        <p:txBody>
          <a:bodyPr>
            <a:normAutofit/>
          </a:bodyPr>
          <a:lstStyle/>
          <a:p>
            <a:pPr lvl="0">
              <a:lnSpc>
                <a:spcPct val="150000"/>
              </a:lnSpc>
            </a:pPr>
            <a:r>
              <a:rPr lang="en-IN" sz="2000" b="1" u="sng" dirty="0">
                <a:latin typeface="Times New Roman" panose="02020603050405020304" pitchFamily="18" charset="0"/>
                <a:cs typeface="Times New Roman" panose="02020603050405020304" pitchFamily="18" charset="0"/>
              </a:rPr>
              <a:t>Modules / Functionalities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Student Class</a:t>
            </a:r>
            <a:r>
              <a:rPr lang="en-IN" sz="2000" dirty="0">
                <a:latin typeface="Times New Roman" panose="02020603050405020304" pitchFamily="18" charset="0"/>
                <a:cs typeface="Times New Roman" panose="02020603050405020304" pitchFamily="18" charset="0"/>
              </a:rPr>
              <a:t> – Stores student ID, name, branch, year, and contact details.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Marks Class</a:t>
            </a:r>
            <a:r>
              <a:rPr lang="en-IN" sz="2000" dirty="0">
                <a:latin typeface="Times New Roman" panose="02020603050405020304" pitchFamily="18" charset="0"/>
                <a:cs typeface="Times New Roman" panose="02020603050405020304" pitchFamily="18" charset="0"/>
              </a:rPr>
              <a:t> – Stores subject-wise marks and academic performance.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Search Class/Function</a:t>
            </a:r>
            <a:r>
              <a:rPr lang="en-IN" sz="2000" dirty="0">
                <a:latin typeface="Times New Roman" panose="02020603050405020304" pitchFamily="18" charset="0"/>
                <a:cs typeface="Times New Roman" panose="02020603050405020304" pitchFamily="18" charset="0"/>
              </a:rPr>
              <a:t> – Finds records using student ID or name.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Record Manager</a:t>
            </a:r>
            <a:r>
              <a:rPr lang="en-IN" sz="2000" dirty="0">
                <a:latin typeface="Times New Roman" panose="02020603050405020304" pitchFamily="18" charset="0"/>
                <a:cs typeface="Times New Roman" panose="02020603050405020304" pitchFamily="18" charset="0"/>
              </a:rPr>
              <a:t> – Handles adding, updating, deleting, and displaying records.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File Handler</a:t>
            </a:r>
            <a:r>
              <a:rPr lang="en-IN" sz="2000" dirty="0">
                <a:latin typeface="Times New Roman" panose="02020603050405020304" pitchFamily="18" charset="0"/>
                <a:cs typeface="Times New Roman" panose="02020603050405020304" pitchFamily="18" charset="0"/>
              </a:rPr>
              <a:t> – Saves and retrieves records using file handling.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Report Class</a:t>
            </a:r>
            <a:r>
              <a:rPr lang="en-IN" sz="2000" dirty="0">
                <a:latin typeface="Times New Roman" panose="02020603050405020304" pitchFamily="18" charset="0"/>
                <a:cs typeface="Times New Roman" panose="02020603050405020304" pitchFamily="18" charset="0"/>
              </a:rPr>
              <a:t> – Generates student performance summaries</a:t>
            </a:r>
          </a:p>
          <a:p>
            <a:pPr marL="914400" indent="-457200">
              <a:lnSpc>
                <a:spcPct val="150000"/>
              </a:lnSpc>
              <a:buFont typeface="Wingdings" panose="05000000000000000000" pitchFamily="2" charset="2"/>
              <a:buChar char="Ø"/>
            </a:pPr>
            <a:endParaRPr lang="en-IN" sz="20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24/09/2026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7</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214104"/>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Modules / Functionalities</a:t>
            </a:r>
          </a:p>
        </p:txBody>
      </p:sp>
    </p:spTree>
    <p:extLst>
      <p:ext uri="{BB962C8B-B14F-4D97-AF65-F5344CB8AC3E}">
        <p14:creationId xmlns:p14="http://schemas.microsoft.com/office/powerpoint/2010/main" val="1780977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8C1B56-8644-D6F1-DB7A-8BAF961B47C2}"/>
              </a:ext>
            </a:extLst>
          </p:cNvPr>
          <p:cNvSpPr>
            <a:spLocks noGrp="1"/>
          </p:cNvSpPr>
          <p:nvPr>
            <p:ph/>
          </p:nvPr>
        </p:nvSpPr>
        <p:spPr>
          <a:xfrm>
            <a:off x="838200" y="890698"/>
            <a:ext cx="3272408" cy="4531419"/>
          </a:xfrm>
        </p:spPr>
        <p:txBody>
          <a:bodyPr>
            <a:normAutofit/>
          </a:bodyPr>
          <a:lstStyle/>
          <a:p>
            <a:pPr>
              <a:lnSpc>
                <a:spcPct val="150000"/>
              </a:lnSpc>
            </a:pPr>
            <a:r>
              <a:rPr lang="en-IN" sz="2400" b="1" dirty="0"/>
              <a:t>Encapsulation</a:t>
            </a:r>
            <a:r>
              <a:rPr lang="en-IN" dirty="0"/>
              <a:t> </a:t>
            </a:r>
          </a:p>
          <a:p>
            <a:pPr>
              <a:lnSpc>
                <a:spcPct val="150000"/>
              </a:lnSpc>
            </a:pPr>
            <a:r>
              <a:rPr lang="en-IN" sz="2200" dirty="0"/>
              <a:t>class Student</a:t>
            </a:r>
          </a:p>
          <a:p>
            <a:pPr>
              <a:lnSpc>
                <a:spcPct val="150000"/>
              </a:lnSpc>
            </a:pPr>
            <a:r>
              <a:rPr lang="en-IN" sz="2200" dirty="0"/>
              <a:t>{</a:t>
            </a:r>
          </a:p>
          <a:p>
            <a:pPr>
              <a:lnSpc>
                <a:spcPct val="150000"/>
              </a:lnSpc>
            </a:pPr>
            <a:r>
              <a:rPr lang="en-IN" sz="2200" dirty="0"/>
              <a:t>private:</a:t>
            </a:r>
          </a:p>
          <a:p>
            <a:pPr>
              <a:lnSpc>
                <a:spcPct val="150000"/>
              </a:lnSpc>
            </a:pPr>
            <a:r>
              <a:rPr lang="en-IN" sz="2200" dirty="0"/>
              <a:t>    int </a:t>
            </a:r>
            <a:r>
              <a:rPr lang="en-IN" sz="2200" dirty="0" err="1"/>
              <a:t>studentID</a:t>
            </a:r>
            <a:r>
              <a:rPr lang="en-IN" sz="2200" dirty="0"/>
              <a:t>;</a:t>
            </a:r>
          </a:p>
          <a:p>
            <a:pPr>
              <a:lnSpc>
                <a:spcPct val="150000"/>
              </a:lnSpc>
            </a:pPr>
            <a:r>
              <a:rPr lang="en-IN" sz="2200" dirty="0"/>
              <a:t>    string name;</a:t>
            </a:r>
          </a:p>
          <a:p>
            <a:pPr>
              <a:lnSpc>
                <a:spcPct val="150000"/>
              </a:lnSpc>
            </a:pPr>
            <a:r>
              <a:rPr lang="en-IN" sz="2200" dirty="0"/>
              <a:t>};</a:t>
            </a:r>
          </a:p>
        </p:txBody>
      </p:sp>
      <p:sp>
        <p:nvSpPr>
          <p:cNvPr id="3" name="Date Placeholder 2">
            <a:extLst>
              <a:ext uri="{FF2B5EF4-FFF2-40B4-BE49-F238E27FC236}">
                <a16:creationId xmlns:a16="http://schemas.microsoft.com/office/drawing/2014/main" id="{CAD3487F-A221-3FEA-8349-03FFEBB33A02}"/>
              </a:ext>
            </a:extLst>
          </p:cNvPr>
          <p:cNvSpPr>
            <a:spLocks noGrp="1"/>
          </p:cNvSpPr>
          <p:nvPr>
            <p:ph type="dt" sz="half" idx="1"/>
          </p:nvPr>
        </p:nvSpPr>
        <p:spPr/>
        <p:txBody>
          <a:bodyPr/>
          <a:lstStyle/>
          <a:p>
            <a:r>
              <a:rPr lang="en-US" dirty="0"/>
              <a:t>24/09/2026</a:t>
            </a:r>
          </a:p>
        </p:txBody>
      </p:sp>
      <p:sp>
        <p:nvSpPr>
          <p:cNvPr id="4" name="Footer Placeholder 3">
            <a:extLst>
              <a:ext uri="{FF2B5EF4-FFF2-40B4-BE49-F238E27FC236}">
                <a16:creationId xmlns:a16="http://schemas.microsoft.com/office/drawing/2014/main" id="{68DCA700-582A-17FB-17E9-2FB302976DDC}"/>
              </a:ext>
            </a:extLst>
          </p:cNvPr>
          <p:cNvSpPr>
            <a:spLocks noGrp="1"/>
          </p:cNvSpPr>
          <p:nvPr>
            <p:ph type="ftr" sz="quarter" idx="2"/>
          </p:nvPr>
        </p:nvSpPr>
        <p:spPr/>
        <p:txBody>
          <a:bodyPr/>
          <a:lstStyle/>
          <a:p>
            <a:r>
              <a:rPr lang="en-US" dirty="0"/>
              <a:t>PBL Course Name: Object Oriented Programming through C++(2501CS08)     REVIEW-2</a:t>
            </a:r>
          </a:p>
        </p:txBody>
      </p:sp>
      <p:sp>
        <p:nvSpPr>
          <p:cNvPr id="5" name="Slide Number Placeholder 4">
            <a:extLst>
              <a:ext uri="{FF2B5EF4-FFF2-40B4-BE49-F238E27FC236}">
                <a16:creationId xmlns:a16="http://schemas.microsoft.com/office/drawing/2014/main" id="{736AA600-FEF9-4988-E6E5-14B8A3E5739A}"/>
              </a:ext>
            </a:extLst>
          </p:cNvPr>
          <p:cNvSpPr>
            <a:spLocks noGrp="1"/>
          </p:cNvSpPr>
          <p:nvPr>
            <p:ph type="sldNum" sz="quarter" idx="3"/>
          </p:nvPr>
        </p:nvSpPr>
        <p:spPr/>
        <p:txBody>
          <a:bodyPr/>
          <a:lstStyle/>
          <a:p>
            <a:fld id="{9359D16F-76A5-41BA-ADDD-CBF352B33DDD}" type="slidenum">
              <a:rPr lang="en-IN" smtClean="0"/>
              <a:t>8</a:t>
            </a:fld>
            <a:endParaRPr lang="en-IN" dirty="0"/>
          </a:p>
        </p:txBody>
      </p:sp>
      <p:sp>
        <p:nvSpPr>
          <p:cNvPr id="7" name="TextBox 6">
            <a:extLst>
              <a:ext uri="{FF2B5EF4-FFF2-40B4-BE49-F238E27FC236}">
                <a16:creationId xmlns:a16="http://schemas.microsoft.com/office/drawing/2014/main" id="{FB66B2CA-3A0B-525C-AF58-FFFF273AF5C4}"/>
              </a:ext>
            </a:extLst>
          </p:cNvPr>
          <p:cNvSpPr txBox="1"/>
          <p:nvPr/>
        </p:nvSpPr>
        <p:spPr>
          <a:xfrm>
            <a:off x="3733800" y="101535"/>
            <a:ext cx="6215604" cy="671851"/>
          </a:xfrm>
          <a:prstGeom prst="rect">
            <a:avLst/>
          </a:prstGeom>
          <a:noFill/>
        </p:spPr>
        <p:txBody>
          <a:bodyPr wrap="square">
            <a:spAutoFit/>
          </a:bodyPr>
          <a:lstStyle/>
          <a:p>
            <a:pPr>
              <a:lnSpc>
                <a:spcPct val="150000"/>
              </a:lnSpc>
            </a:pPr>
            <a:r>
              <a:rPr lang="en-IN" sz="2800" b="1" dirty="0">
                <a:solidFill>
                  <a:srgbClr val="0000FF"/>
                </a:solidFill>
              </a:rPr>
              <a:t>OOP Concepts Used</a:t>
            </a:r>
          </a:p>
        </p:txBody>
      </p:sp>
      <p:sp>
        <p:nvSpPr>
          <p:cNvPr id="9" name="TextBox 8">
            <a:extLst>
              <a:ext uri="{FF2B5EF4-FFF2-40B4-BE49-F238E27FC236}">
                <a16:creationId xmlns:a16="http://schemas.microsoft.com/office/drawing/2014/main" id="{61CF6450-80FB-73F0-88D7-67893C3313C8}"/>
              </a:ext>
            </a:extLst>
          </p:cNvPr>
          <p:cNvSpPr txBox="1"/>
          <p:nvPr/>
        </p:nvSpPr>
        <p:spPr>
          <a:xfrm>
            <a:off x="5715000" y="890698"/>
            <a:ext cx="6808806" cy="1046440"/>
          </a:xfrm>
          <a:prstGeom prst="rect">
            <a:avLst/>
          </a:prstGeom>
          <a:noFill/>
        </p:spPr>
        <p:txBody>
          <a:bodyPr wrap="square">
            <a:spAutoFit/>
          </a:bodyPr>
          <a:lstStyle/>
          <a:p>
            <a:r>
              <a:rPr lang="en-IN" sz="2400" b="1" dirty="0"/>
              <a:t>Inheritance</a:t>
            </a:r>
            <a:r>
              <a:rPr lang="en-IN" b="1" dirty="0"/>
              <a:t> </a:t>
            </a:r>
          </a:p>
          <a:p>
            <a:endParaRPr lang="en-IN" b="1" dirty="0"/>
          </a:p>
          <a:p>
            <a:r>
              <a:rPr lang="en-IN" sz="2000" dirty="0"/>
              <a:t>class Faculty : public User</a:t>
            </a:r>
          </a:p>
        </p:txBody>
      </p:sp>
      <p:sp>
        <p:nvSpPr>
          <p:cNvPr id="11" name="TextBox 10">
            <a:extLst>
              <a:ext uri="{FF2B5EF4-FFF2-40B4-BE49-F238E27FC236}">
                <a16:creationId xmlns:a16="http://schemas.microsoft.com/office/drawing/2014/main" id="{6ED07BE3-F846-C30F-A1D8-6AD5F216810C}"/>
              </a:ext>
            </a:extLst>
          </p:cNvPr>
          <p:cNvSpPr txBox="1"/>
          <p:nvPr/>
        </p:nvSpPr>
        <p:spPr>
          <a:xfrm>
            <a:off x="5715000" y="2054450"/>
            <a:ext cx="6649654" cy="1446550"/>
          </a:xfrm>
          <a:prstGeom prst="rect">
            <a:avLst/>
          </a:prstGeom>
          <a:noFill/>
        </p:spPr>
        <p:txBody>
          <a:bodyPr wrap="square">
            <a:spAutoFit/>
          </a:bodyPr>
          <a:lstStyle/>
          <a:p>
            <a:pPr>
              <a:buNone/>
            </a:pPr>
            <a:r>
              <a:rPr lang="en-IN" sz="2400" b="1" dirty="0"/>
              <a:t>Polymorphism</a:t>
            </a:r>
          </a:p>
          <a:p>
            <a:pPr>
              <a:buNone/>
            </a:pPr>
            <a:endParaRPr lang="en-IN" sz="2400" dirty="0"/>
          </a:p>
          <a:p>
            <a:pPr rtl="0">
              <a:buNone/>
            </a:pPr>
            <a:r>
              <a:rPr lang="en-IN" sz="2000" dirty="0">
                <a:latin typeface="+mn-lt"/>
              </a:rPr>
              <a:t>User* user = &amp;faculty;</a:t>
            </a:r>
          </a:p>
          <a:p>
            <a:pPr rtl="0">
              <a:buNone/>
            </a:pPr>
            <a:r>
              <a:rPr lang="en-IN" sz="2000" dirty="0">
                <a:latin typeface="+mn-lt"/>
              </a:rPr>
              <a:t>user-&gt;</a:t>
            </a:r>
            <a:r>
              <a:rPr lang="en-IN" sz="2000" dirty="0" err="1">
                <a:latin typeface="+mn-lt"/>
              </a:rPr>
              <a:t>showMenu</a:t>
            </a:r>
            <a:r>
              <a:rPr lang="en-IN" sz="2000" dirty="0">
                <a:latin typeface="+mn-lt"/>
              </a:rPr>
              <a:t>(manager);</a:t>
            </a:r>
            <a:endParaRPr lang="en-IN" sz="2000" dirty="0">
              <a:latin typeface="Courier New" panose="02070309020205020404" pitchFamily="49" charset="0"/>
            </a:endParaRPr>
          </a:p>
        </p:txBody>
      </p:sp>
      <p:sp>
        <p:nvSpPr>
          <p:cNvPr id="14" name="TextBox 13">
            <a:extLst>
              <a:ext uri="{FF2B5EF4-FFF2-40B4-BE49-F238E27FC236}">
                <a16:creationId xmlns:a16="http://schemas.microsoft.com/office/drawing/2014/main" id="{22F731BD-90A5-298C-1204-AC3088E3692E}"/>
              </a:ext>
            </a:extLst>
          </p:cNvPr>
          <p:cNvSpPr txBox="1"/>
          <p:nvPr/>
        </p:nvSpPr>
        <p:spPr>
          <a:xfrm>
            <a:off x="5715000" y="3557909"/>
            <a:ext cx="6649654" cy="2369880"/>
          </a:xfrm>
          <a:prstGeom prst="rect">
            <a:avLst/>
          </a:prstGeom>
          <a:noFill/>
        </p:spPr>
        <p:txBody>
          <a:bodyPr wrap="square">
            <a:spAutoFit/>
          </a:bodyPr>
          <a:lstStyle/>
          <a:p>
            <a:pPr>
              <a:buNone/>
            </a:pPr>
            <a:r>
              <a:rPr lang="en-IN" sz="2400" b="1" dirty="0"/>
              <a:t>Abstraction</a:t>
            </a:r>
          </a:p>
          <a:p>
            <a:pPr>
              <a:buNone/>
            </a:pPr>
            <a:endParaRPr lang="en-IN" sz="2400" dirty="0"/>
          </a:p>
          <a:p>
            <a:pPr rtl="0">
              <a:buNone/>
            </a:pPr>
            <a:r>
              <a:rPr lang="en-IN" sz="2000" dirty="0">
                <a:latin typeface="+mn-lt"/>
              </a:rPr>
              <a:t>class User</a:t>
            </a:r>
          </a:p>
          <a:p>
            <a:pPr rtl="0">
              <a:buNone/>
            </a:pPr>
            <a:r>
              <a:rPr lang="en-IN" sz="2000" dirty="0">
                <a:latin typeface="+mn-lt"/>
              </a:rPr>
              <a:t>{</a:t>
            </a:r>
          </a:p>
          <a:p>
            <a:pPr rtl="0">
              <a:buNone/>
            </a:pPr>
            <a:r>
              <a:rPr lang="en-IN" sz="2000" dirty="0">
                <a:latin typeface="+mn-lt"/>
              </a:rPr>
              <a:t>public:</a:t>
            </a:r>
          </a:p>
          <a:p>
            <a:pPr rtl="0">
              <a:buNone/>
            </a:pPr>
            <a:r>
              <a:rPr lang="en-IN" sz="2000" dirty="0">
                <a:latin typeface="+mn-lt"/>
              </a:rPr>
              <a:t>    virtual void </a:t>
            </a:r>
            <a:r>
              <a:rPr lang="en-IN" sz="2000" dirty="0" err="1">
                <a:latin typeface="+mn-lt"/>
              </a:rPr>
              <a:t>showMenu</a:t>
            </a:r>
            <a:r>
              <a:rPr lang="en-IN" sz="2000" dirty="0">
                <a:latin typeface="+mn-lt"/>
              </a:rPr>
              <a:t>(</a:t>
            </a:r>
            <a:r>
              <a:rPr lang="en-IN" sz="2000" dirty="0" err="1">
                <a:latin typeface="+mn-lt"/>
              </a:rPr>
              <a:t>RecordManager</a:t>
            </a:r>
            <a:r>
              <a:rPr lang="en-IN" sz="2000" dirty="0">
                <a:latin typeface="+mn-lt"/>
              </a:rPr>
              <a:t>&amp; manager) = 0;</a:t>
            </a:r>
          </a:p>
          <a:p>
            <a:pPr rtl="0">
              <a:buNone/>
            </a:pPr>
            <a:r>
              <a:rPr lang="en-IN" sz="2000" dirty="0">
                <a:latin typeface="+mn-lt"/>
              </a:rPr>
              <a:t>};</a:t>
            </a:r>
            <a:endParaRPr lang="en-IN" sz="2000" dirty="0">
              <a:latin typeface="Courier New" panose="02070309020205020404" pitchFamily="49" charset="0"/>
            </a:endParaRPr>
          </a:p>
        </p:txBody>
      </p:sp>
    </p:spTree>
    <p:extLst>
      <p:ext uri="{BB962C8B-B14F-4D97-AF65-F5344CB8AC3E}">
        <p14:creationId xmlns:p14="http://schemas.microsoft.com/office/powerpoint/2010/main" val="3077073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a:xfrm>
            <a:off x="457200" y="6301142"/>
            <a:ext cx="1656183" cy="365125"/>
          </a:xfrm>
        </p:spPr>
        <p:txBody>
          <a:bodyPr/>
          <a:lstStyle/>
          <a:p>
            <a:r>
              <a:rPr lang="en-US" dirty="0"/>
              <a:t>24/09/20026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9</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Architecture Diagram</a:t>
            </a:r>
          </a:p>
        </p:txBody>
      </p:sp>
      <p:sp>
        <p:nvSpPr>
          <p:cNvPr id="8" name="Rounded Rectangle 7"/>
          <p:cNvSpPr/>
          <p:nvPr/>
        </p:nvSpPr>
        <p:spPr>
          <a:xfrm>
            <a:off x="1595999" y="1691640"/>
            <a:ext cx="9000000" cy="822960"/>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a:solidFill>
                  <a:schemeClr val="bg1"/>
                </a:solidFill>
                <a:latin typeface="Calibri"/>
              </a:rPr>
              <a:t>Presentation Layer</a:t>
            </a:r>
          </a:p>
          <a:p>
            <a:pPr algn="ctr"/>
            <a:r>
              <a:rPr sz="1500" b="0" dirty="0">
                <a:solidFill>
                  <a:schemeClr val="bg1"/>
                </a:solidFill>
                <a:latin typeface="Calibri"/>
              </a:rPr>
              <a:t>Console / Menu-driven User Interface</a:t>
            </a:r>
          </a:p>
        </p:txBody>
      </p:sp>
      <p:cxnSp>
        <p:nvCxnSpPr>
          <p:cNvPr id="9" name="Connector 8"/>
          <p:cNvCxnSpPr/>
          <p:nvPr/>
        </p:nvCxnSpPr>
        <p:spPr>
          <a:xfrm>
            <a:off x="6080760" y="2514600"/>
            <a:ext cx="0" cy="36576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596000" y="2880360"/>
            <a:ext cx="8999996" cy="1051560"/>
          </a:xfrm>
          <a:prstGeom prst="roundRect">
            <a:avLst/>
          </a:prstGeom>
          <a:solidFill>
            <a:srgbClr val="2E5B8A"/>
          </a:solidFill>
          <a:ln>
            <a:solidFill>
              <a:srgbClr val="2E5B8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dirty="0">
                <a:solidFill>
                  <a:srgbClr val="FFFFFF"/>
                </a:solidFill>
                <a:latin typeface="Calibri"/>
              </a:rPr>
              <a:t>Business Logic Layer</a:t>
            </a:r>
          </a:p>
          <a:p>
            <a:pPr algn="ctr"/>
            <a:r>
              <a:rPr lang="en-IN" sz="1400" dirty="0"/>
              <a:t>Student Manager | Search Manager | Marks Manager | Report Manage</a:t>
            </a:r>
            <a:endParaRPr sz="1300" b="1" dirty="0">
              <a:solidFill>
                <a:srgbClr val="FFFFFF"/>
              </a:solidFill>
              <a:latin typeface="Calibri"/>
            </a:endParaRPr>
          </a:p>
        </p:txBody>
      </p:sp>
      <p:cxnSp>
        <p:nvCxnSpPr>
          <p:cNvPr id="11" name="Connector 10"/>
          <p:cNvCxnSpPr/>
          <p:nvPr/>
        </p:nvCxnSpPr>
        <p:spPr>
          <a:xfrm>
            <a:off x="6080760" y="3931920"/>
            <a:ext cx="0" cy="36576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95996" y="4419544"/>
            <a:ext cx="9000000" cy="868680"/>
          </a:xfrm>
          <a:prstGeom prst="roundRect">
            <a:avLst/>
          </a:prstGeom>
          <a:solidFill>
            <a:srgbClr val="2E868A"/>
          </a:solidFill>
          <a:ln>
            <a:solidFill>
              <a:srgbClr val="2E868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dirty="0">
                <a:solidFill>
                  <a:srgbClr val="FFFFFF"/>
                </a:solidFill>
                <a:latin typeface="Calibri"/>
              </a:rPr>
              <a:t>Data Layer</a:t>
            </a:r>
          </a:p>
          <a:p>
            <a:pPr algn="ctr"/>
            <a:r>
              <a:rPr sz="1500" b="0" dirty="0">
                <a:solidFill>
                  <a:srgbClr val="FFFFFF"/>
                </a:solidFill>
                <a:latin typeface="Calibri"/>
              </a:rPr>
              <a:t>File Handling ( Student,  MARKS records)</a:t>
            </a:r>
          </a:p>
        </p:txBody>
      </p:sp>
    </p:spTree>
    <p:extLst>
      <p:ext uri="{BB962C8B-B14F-4D97-AF65-F5344CB8AC3E}">
        <p14:creationId xmlns:p14="http://schemas.microsoft.com/office/powerpoint/2010/main" val="178097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9/24/2026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10</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Planning and Timeline Diagram</a:t>
            </a:r>
          </a:p>
        </p:txBody>
      </p:sp>
      <p:sp>
        <p:nvSpPr>
          <p:cNvPr id="8" name="TextBox 7"/>
          <p:cNvSpPr txBox="1"/>
          <p:nvPr/>
        </p:nvSpPr>
        <p:spPr>
          <a:xfrm>
            <a:off x="3931920"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W1</a:t>
            </a:r>
          </a:p>
        </p:txBody>
      </p:sp>
      <p:sp>
        <p:nvSpPr>
          <p:cNvPr id="9" name="TextBox 8"/>
          <p:cNvSpPr txBox="1"/>
          <p:nvPr/>
        </p:nvSpPr>
        <p:spPr>
          <a:xfrm>
            <a:off x="4976948"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W2</a:t>
            </a:r>
          </a:p>
        </p:txBody>
      </p:sp>
      <p:sp>
        <p:nvSpPr>
          <p:cNvPr id="10" name="TextBox 9"/>
          <p:cNvSpPr txBox="1"/>
          <p:nvPr/>
        </p:nvSpPr>
        <p:spPr>
          <a:xfrm>
            <a:off x="6021977"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W3</a:t>
            </a:r>
          </a:p>
        </p:txBody>
      </p:sp>
      <p:sp>
        <p:nvSpPr>
          <p:cNvPr id="11" name="TextBox 10"/>
          <p:cNvSpPr txBox="1"/>
          <p:nvPr/>
        </p:nvSpPr>
        <p:spPr>
          <a:xfrm>
            <a:off x="7067005"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W4</a:t>
            </a:r>
          </a:p>
        </p:txBody>
      </p:sp>
      <p:sp>
        <p:nvSpPr>
          <p:cNvPr id="12" name="TextBox 11"/>
          <p:cNvSpPr txBox="1"/>
          <p:nvPr/>
        </p:nvSpPr>
        <p:spPr>
          <a:xfrm>
            <a:off x="8112034"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W5</a:t>
            </a:r>
          </a:p>
        </p:txBody>
      </p:sp>
      <p:sp>
        <p:nvSpPr>
          <p:cNvPr id="13" name="TextBox 12"/>
          <p:cNvSpPr txBox="1"/>
          <p:nvPr/>
        </p:nvSpPr>
        <p:spPr>
          <a:xfrm>
            <a:off x="9157062"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W6</a:t>
            </a:r>
          </a:p>
        </p:txBody>
      </p:sp>
      <p:sp>
        <p:nvSpPr>
          <p:cNvPr id="14" name="TextBox 13"/>
          <p:cNvSpPr txBox="1"/>
          <p:nvPr/>
        </p:nvSpPr>
        <p:spPr>
          <a:xfrm>
            <a:off x="10202091"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W7</a:t>
            </a:r>
          </a:p>
        </p:txBody>
      </p:sp>
      <p:sp>
        <p:nvSpPr>
          <p:cNvPr id="15" name="TextBox 14"/>
          <p:cNvSpPr txBox="1"/>
          <p:nvPr/>
        </p:nvSpPr>
        <p:spPr>
          <a:xfrm>
            <a:off x="914400" y="1828800"/>
            <a:ext cx="2880360" cy="338554"/>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Requirement Analysis</a:t>
            </a:r>
          </a:p>
        </p:txBody>
      </p:sp>
      <p:sp>
        <p:nvSpPr>
          <p:cNvPr id="16" name="Rounded Rectangle 15"/>
          <p:cNvSpPr/>
          <p:nvPr/>
        </p:nvSpPr>
        <p:spPr>
          <a:xfrm>
            <a:off x="3931920" y="1883664"/>
            <a:ext cx="868680" cy="384048"/>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7" name="TextBox 16"/>
          <p:cNvSpPr txBox="1"/>
          <p:nvPr/>
        </p:nvSpPr>
        <p:spPr>
          <a:xfrm>
            <a:off x="914400" y="2395728"/>
            <a:ext cx="2880360" cy="584775"/>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System Design (Class/ER Diagrams)</a:t>
            </a:r>
          </a:p>
        </p:txBody>
      </p:sp>
      <p:sp>
        <p:nvSpPr>
          <p:cNvPr id="18" name="Rounded Rectangle 17"/>
          <p:cNvSpPr/>
          <p:nvPr/>
        </p:nvSpPr>
        <p:spPr>
          <a:xfrm>
            <a:off x="4976948" y="2450592"/>
            <a:ext cx="2090057" cy="384048"/>
          </a:xfrm>
          <a:prstGeom prst="roundRect">
            <a:avLst/>
          </a:prstGeom>
          <a:solidFill>
            <a:srgbClr val="2E5B8A"/>
          </a:solidFill>
          <a:ln>
            <a:solidFill>
              <a:srgbClr val="2E5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9" name="TextBox 18"/>
          <p:cNvSpPr txBox="1"/>
          <p:nvPr/>
        </p:nvSpPr>
        <p:spPr>
          <a:xfrm>
            <a:off x="914400" y="2962656"/>
            <a:ext cx="2880360" cy="338554"/>
          </a:xfrm>
          <a:prstGeom prst="rect">
            <a:avLst/>
          </a:prstGeom>
          <a:noFill/>
        </p:spPr>
        <p:txBody>
          <a:bodyPr wrap="square">
            <a:spAutoFit/>
          </a:bodyPr>
          <a:lstStyle/>
          <a:p>
            <a:pPr algn="l"/>
            <a:r>
              <a:rPr sz="1600" b="0" dirty="0">
                <a:solidFill>
                  <a:srgbClr val="222222"/>
                </a:solidFill>
                <a:latin typeface="Times New Roman" panose="02020603050405020304" pitchFamily="18" charset="0"/>
                <a:cs typeface="Times New Roman" panose="02020603050405020304" pitchFamily="18" charset="0"/>
              </a:rPr>
              <a:t>Coding &amp; Module Development</a:t>
            </a:r>
          </a:p>
        </p:txBody>
      </p:sp>
      <p:sp>
        <p:nvSpPr>
          <p:cNvPr id="20" name="Rounded Rectangle 19"/>
          <p:cNvSpPr/>
          <p:nvPr/>
        </p:nvSpPr>
        <p:spPr>
          <a:xfrm>
            <a:off x="5867401" y="3017520"/>
            <a:ext cx="3733800" cy="384048"/>
          </a:xfrm>
          <a:prstGeom prst="roundRect">
            <a:avLst/>
          </a:prstGeom>
          <a:solidFill>
            <a:srgbClr val="2E868A"/>
          </a:solidFill>
          <a:ln>
            <a:solidFill>
              <a:srgbClr val="2E8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21" name="TextBox 20"/>
          <p:cNvSpPr txBox="1"/>
          <p:nvPr/>
        </p:nvSpPr>
        <p:spPr>
          <a:xfrm>
            <a:off x="914400" y="3529584"/>
            <a:ext cx="2880360" cy="338554"/>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Integration &amp; Testing</a:t>
            </a:r>
          </a:p>
        </p:txBody>
      </p:sp>
      <p:sp>
        <p:nvSpPr>
          <p:cNvPr id="22" name="Rounded Rectangle 21"/>
          <p:cNvSpPr/>
          <p:nvPr/>
        </p:nvSpPr>
        <p:spPr>
          <a:xfrm>
            <a:off x="9296400" y="3584448"/>
            <a:ext cx="1428204" cy="384048"/>
          </a:xfrm>
          <a:prstGeom prst="roundRect">
            <a:avLst/>
          </a:prstGeom>
          <a:solidFill>
            <a:srgbClr val="2E5B8A"/>
          </a:solidFill>
          <a:ln>
            <a:solidFill>
              <a:srgbClr val="2E5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23" name="TextBox 22"/>
          <p:cNvSpPr txBox="1"/>
          <p:nvPr/>
        </p:nvSpPr>
        <p:spPr>
          <a:xfrm>
            <a:off x="914400" y="4096512"/>
            <a:ext cx="2880360" cy="338554"/>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Documentation &amp; Final Review</a:t>
            </a:r>
          </a:p>
        </p:txBody>
      </p:sp>
      <p:sp>
        <p:nvSpPr>
          <p:cNvPr id="24" name="Rounded Rectangle 23"/>
          <p:cNvSpPr/>
          <p:nvPr/>
        </p:nvSpPr>
        <p:spPr>
          <a:xfrm>
            <a:off x="10411097" y="4151376"/>
            <a:ext cx="1045028" cy="384048"/>
          </a:xfrm>
          <a:prstGeom prst="roundRect">
            <a:avLst/>
          </a:prstGeom>
          <a:solidFill>
            <a:srgbClr val="2E868A"/>
          </a:solidFill>
          <a:ln>
            <a:solidFill>
              <a:srgbClr val="2E8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977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24/09/2026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11</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Role of Each Individual</a:t>
            </a:r>
          </a:p>
        </p:txBody>
      </p:sp>
      <p:graphicFrame>
        <p:nvGraphicFramePr>
          <p:cNvPr id="8" name="Table 7"/>
          <p:cNvGraphicFramePr>
            <a:graphicFrameLocks noGrp="1"/>
          </p:cNvGraphicFramePr>
          <p:nvPr>
            <p:extLst>
              <p:ext uri="{D42A27DB-BD31-4B8C-83A1-F6EECF244321}">
                <p14:modId xmlns:p14="http://schemas.microsoft.com/office/powerpoint/2010/main" val="2038797923"/>
              </p:ext>
            </p:extLst>
          </p:nvPr>
        </p:nvGraphicFramePr>
        <p:xfrm>
          <a:off x="914400" y="1752600"/>
          <a:ext cx="9418320" cy="3810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62000">
                <a:tc>
                  <a:txBody>
                    <a:bodyPr/>
                    <a:lstStyle/>
                    <a:p>
                      <a:r>
                        <a:rPr sz="1800" b="1">
                          <a:solidFill>
                            <a:srgbClr val="FFFFFF"/>
                          </a:solidFill>
                          <a:latin typeface="Times New Roman" panose="02020603050405020304" pitchFamily="18" charset="0"/>
                          <a:cs typeface="Times New Roman" panose="02020603050405020304" pitchFamily="18" charset="0"/>
                        </a:rPr>
                        <a:t>Roll No.</a:t>
                      </a:r>
                    </a:p>
                  </a:txBody>
                  <a:tcPr anchor="ctr">
                    <a:solidFill>
                      <a:srgbClr val="1F3A5F"/>
                    </a:solidFill>
                  </a:tcPr>
                </a:tc>
                <a:tc>
                  <a:txBody>
                    <a:bodyPr/>
                    <a:lstStyle/>
                    <a:p>
                      <a:r>
                        <a:rPr sz="1800" b="1" dirty="0">
                          <a:solidFill>
                            <a:srgbClr val="FFFFFF"/>
                          </a:solidFill>
                          <a:latin typeface="Times New Roman" panose="02020603050405020304" pitchFamily="18" charset="0"/>
                          <a:cs typeface="Times New Roman" panose="02020603050405020304" pitchFamily="18" charset="0"/>
                        </a:rPr>
                        <a:t>Name</a:t>
                      </a:r>
                    </a:p>
                  </a:txBody>
                  <a:tcPr anchor="ctr">
                    <a:solidFill>
                      <a:srgbClr val="1F3A5F"/>
                    </a:solidFill>
                  </a:tcPr>
                </a:tc>
                <a:tc>
                  <a:txBody>
                    <a:bodyPr/>
                    <a:lstStyle/>
                    <a:p>
                      <a:r>
                        <a:rPr sz="1800" b="1">
                          <a:solidFill>
                            <a:srgbClr val="FFFFFF"/>
                          </a:solidFill>
                          <a:latin typeface="Times New Roman" panose="02020603050405020304" pitchFamily="18" charset="0"/>
                          <a:cs typeface="Times New Roman" panose="02020603050405020304" pitchFamily="18" charset="0"/>
                        </a:rPr>
                        <a:t>Role / Responsibility</a:t>
                      </a:r>
                    </a:p>
                  </a:txBody>
                  <a:tcPr anchor="ctr">
                    <a:solidFill>
                      <a:srgbClr val="1F3A5F"/>
                    </a:solidFill>
                  </a:tcPr>
                </a:tc>
                <a:extLst>
                  <a:ext uri="{0D108BD9-81ED-4DB2-BD59-A6C34878D82A}">
                    <a16:rowId xmlns:a16="http://schemas.microsoft.com/office/drawing/2014/main" val="10000"/>
                  </a:ext>
                </a:extLst>
              </a:tr>
              <a:tr h="762000">
                <a:tc>
                  <a:txBody>
                    <a:bodyPr/>
                    <a:lstStyle/>
                    <a:p>
                      <a:r>
                        <a:rPr sz="1800" b="0" dirty="0">
                          <a:solidFill>
                            <a:srgbClr val="222222"/>
                          </a:solidFill>
                          <a:latin typeface="Times New Roman" panose="02020603050405020304" pitchFamily="18" charset="0"/>
                          <a:cs typeface="Times New Roman" panose="02020603050405020304" pitchFamily="18" charset="0"/>
                        </a:rPr>
                        <a:t>25B11AI057</a:t>
                      </a:r>
                    </a:p>
                  </a:txBody>
                  <a:tcPr anchor="ctr">
                    <a:solidFill>
                      <a:srgbClr val="FFFFFF"/>
                    </a:solidFill>
                  </a:tcPr>
                </a:tc>
                <a:tc>
                  <a:txBody>
                    <a:bodyPr/>
                    <a:lstStyle/>
                    <a:p>
                      <a:r>
                        <a:rPr sz="1800" b="0" dirty="0" err="1">
                          <a:solidFill>
                            <a:srgbClr val="222222"/>
                          </a:solidFill>
                          <a:latin typeface="Times New Roman" panose="02020603050405020304" pitchFamily="18" charset="0"/>
                          <a:cs typeface="Times New Roman" panose="02020603050405020304" pitchFamily="18" charset="0"/>
                        </a:rPr>
                        <a:t>Anyam</a:t>
                      </a:r>
                      <a:r>
                        <a:rPr sz="1800" b="0" dirty="0">
                          <a:solidFill>
                            <a:srgbClr val="222222"/>
                          </a:solidFill>
                          <a:latin typeface="Times New Roman" panose="02020603050405020304" pitchFamily="18" charset="0"/>
                          <a:cs typeface="Times New Roman" panose="02020603050405020304" pitchFamily="18" charset="0"/>
                        </a:rPr>
                        <a:t> Yuva </a:t>
                      </a:r>
                      <a:r>
                        <a:rPr sz="1800" b="0" dirty="0" err="1">
                          <a:solidFill>
                            <a:srgbClr val="222222"/>
                          </a:solidFill>
                          <a:latin typeface="Times New Roman" panose="02020603050405020304" pitchFamily="18" charset="0"/>
                          <a:cs typeface="Times New Roman" panose="02020603050405020304" pitchFamily="18" charset="0"/>
                        </a:rPr>
                        <a:t>tejasri</a:t>
                      </a:r>
                      <a:endParaRPr sz="1800" b="0" dirty="0">
                        <a:solidFill>
                          <a:srgbClr val="222222"/>
                        </a:solidFill>
                        <a:latin typeface="Times New Roman" panose="02020603050405020304" pitchFamily="18" charset="0"/>
                        <a:cs typeface="Times New Roman" panose="02020603050405020304" pitchFamily="18" charset="0"/>
                      </a:endParaRPr>
                    </a:p>
                  </a:txBody>
                  <a:tcPr anchor="ctr">
                    <a:solidFill>
                      <a:srgbClr val="FFFFFF"/>
                    </a:solidFill>
                  </a:tcPr>
                </a:tc>
                <a:tc>
                  <a:txBody>
                    <a:bodyPr/>
                    <a:lstStyle/>
                    <a:p>
                      <a:r>
                        <a:rPr sz="1800" b="0">
                          <a:solidFill>
                            <a:srgbClr val="222222"/>
                          </a:solidFill>
                          <a:latin typeface="Times New Roman" panose="02020603050405020304" pitchFamily="18" charset="0"/>
                          <a:cs typeface="Times New Roman" panose="02020603050405020304" pitchFamily="18" charset="0"/>
                        </a:rPr>
                        <a:t>Class design, Event &amp; Registration modules</a:t>
                      </a:r>
                    </a:p>
                  </a:txBody>
                  <a:tcPr anchor="ctr">
                    <a:solidFill>
                      <a:srgbClr val="FFFFFF"/>
                    </a:solidFill>
                  </a:tcPr>
                </a:tc>
                <a:extLst>
                  <a:ext uri="{0D108BD9-81ED-4DB2-BD59-A6C34878D82A}">
                    <a16:rowId xmlns:a16="http://schemas.microsoft.com/office/drawing/2014/main" val="10001"/>
                  </a:ext>
                </a:extLst>
              </a:tr>
              <a:tr h="762000">
                <a:tc>
                  <a:txBody>
                    <a:bodyPr/>
                    <a:lstStyle/>
                    <a:p>
                      <a:r>
                        <a:rPr sz="1800" b="1" dirty="0">
                          <a:solidFill>
                            <a:srgbClr val="222222"/>
                          </a:solidFill>
                          <a:latin typeface="Times New Roman" panose="02020603050405020304" pitchFamily="18" charset="0"/>
                          <a:cs typeface="Times New Roman" panose="02020603050405020304" pitchFamily="18" charset="0"/>
                        </a:rPr>
                        <a:t>25B11AI164</a:t>
                      </a:r>
                    </a:p>
                  </a:txBody>
                  <a:tcPr anchor="ctr">
                    <a:solidFill>
                      <a:srgbClr val="EAF1F7"/>
                    </a:solidFill>
                  </a:tcPr>
                </a:tc>
                <a:tc>
                  <a:txBody>
                    <a:bodyPr/>
                    <a:lstStyle/>
                    <a:p>
                      <a:r>
                        <a:rPr sz="1800" b="1" u="none" dirty="0">
                          <a:solidFill>
                            <a:srgbClr val="222222"/>
                          </a:solidFill>
                          <a:latin typeface="Times New Roman" panose="02020603050405020304" pitchFamily="18" charset="0"/>
                          <a:cs typeface="Times New Roman" panose="02020603050405020304" pitchFamily="18" charset="0"/>
                        </a:rPr>
                        <a:t>Burra Bobby </a:t>
                      </a:r>
                    </a:p>
                  </a:txBody>
                  <a:tcPr anchor="ctr">
                    <a:solidFill>
                      <a:srgbClr val="EAF1F7"/>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Coding – core modules &amp; file handling</a:t>
                      </a:r>
                    </a:p>
                  </a:txBody>
                  <a:tcPr anchor="ctr">
                    <a:solidFill>
                      <a:srgbClr val="EAF1F7"/>
                    </a:solidFill>
                  </a:tcPr>
                </a:tc>
                <a:extLst>
                  <a:ext uri="{0D108BD9-81ED-4DB2-BD59-A6C34878D82A}">
                    <a16:rowId xmlns:a16="http://schemas.microsoft.com/office/drawing/2014/main" val="10002"/>
                  </a:ext>
                </a:extLst>
              </a:tr>
              <a:tr h="762000">
                <a:tc>
                  <a:txBody>
                    <a:bodyPr/>
                    <a:lstStyle/>
                    <a:p>
                      <a:r>
                        <a:rPr sz="1800" b="0" dirty="0">
                          <a:solidFill>
                            <a:srgbClr val="222222"/>
                          </a:solidFill>
                          <a:latin typeface="Times New Roman" panose="02020603050405020304" pitchFamily="18" charset="0"/>
                          <a:cs typeface="Times New Roman" panose="02020603050405020304" pitchFamily="18" charset="0"/>
                        </a:rPr>
                        <a:t>25B11AI292</a:t>
                      </a:r>
                    </a:p>
                  </a:txBody>
                  <a:tcPr anchor="ctr">
                    <a:solidFill>
                      <a:srgbClr val="FFFFFF"/>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Edupuganti </a:t>
                      </a:r>
                      <a:r>
                        <a:rPr lang="en-IN" sz="1800" b="0" dirty="0">
                          <a:solidFill>
                            <a:srgbClr val="222222"/>
                          </a:solidFill>
                          <a:latin typeface="Times New Roman" panose="02020603050405020304" pitchFamily="18" charset="0"/>
                          <a:cs typeface="Times New Roman" panose="02020603050405020304" pitchFamily="18" charset="0"/>
                        </a:rPr>
                        <a:t>T</a:t>
                      </a:r>
                      <a:r>
                        <a:rPr sz="1800" b="0" dirty="0" err="1">
                          <a:solidFill>
                            <a:srgbClr val="222222"/>
                          </a:solidFill>
                          <a:latin typeface="Times New Roman" panose="02020603050405020304" pitchFamily="18" charset="0"/>
                          <a:cs typeface="Times New Roman" panose="02020603050405020304" pitchFamily="18" charset="0"/>
                        </a:rPr>
                        <a:t>ejaswi</a:t>
                      </a:r>
                      <a:endParaRPr sz="1800" b="0" dirty="0">
                        <a:solidFill>
                          <a:srgbClr val="222222"/>
                        </a:solidFill>
                        <a:latin typeface="Times New Roman" panose="02020603050405020304" pitchFamily="18" charset="0"/>
                        <a:cs typeface="Times New Roman" panose="02020603050405020304" pitchFamily="18" charset="0"/>
                      </a:endParaRPr>
                    </a:p>
                  </a:txBody>
                  <a:tcPr anchor="ctr">
                    <a:solidFill>
                      <a:srgbClr val="FFFFFF"/>
                    </a:solidFill>
                  </a:tcPr>
                </a:tc>
                <a:tc>
                  <a:txBody>
                    <a:bodyPr/>
                    <a:lstStyle/>
                    <a:p>
                      <a:r>
                        <a:rPr sz="1800" b="0">
                          <a:solidFill>
                            <a:srgbClr val="222222"/>
                          </a:solidFill>
                          <a:latin typeface="Times New Roman" panose="02020603050405020304" pitchFamily="18" charset="0"/>
                          <a:cs typeface="Times New Roman" panose="02020603050405020304" pitchFamily="18" charset="0"/>
                        </a:rPr>
                        <a:t>Testing, debugging &amp; report generation</a:t>
                      </a:r>
                    </a:p>
                  </a:txBody>
                  <a:tcPr anchor="ctr">
                    <a:solidFill>
                      <a:srgbClr val="FFFFFF"/>
                    </a:solidFill>
                  </a:tcPr>
                </a:tc>
                <a:extLst>
                  <a:ext uri="{0D108BD9-81ED-4DB2-BD59-A6C34878D82A}">
                    <a16:rowId xmlns:a16="http://schemas.microsoft.com/office/drawing/2014/main" val="10003"/>
                  </a:ext>
                </a:extLst>
              </a:tr>
              <a:tr h="762000">
                <a:tc>
                  <a:txBody>
                    <a:bodyPr/>
                    <a:lstStyle/>
                    <a:p>
                      <a:r>
                        <a:rPr sz="1800" b="0" dirty="0">
                          <a:solidFill>
                            <a:srgbClr val="222222"/>
                          </a:solidFill>
                          <a:latin typeface="Times New Roman" panose="02020603050405020304" pitchFamily="18" charset="0"/>
                          <a:cs typeface="Times New Roman" panose="02020603050405020304" pitchFamily="18" charset="0"/>
                        </a:rPr>
                        <a:t>25B11AI329</a:t>
                      </a:r>
                    </a:p>
                  </a:txBody>
                  <a:tcPr anchor="ctr">
                    <a:solidFill>
                      <a:srgbClr val="EAF1F7"/>
                    </a:solidFill>
                  </a:tcPr>
                </a:tc>
                <a:tc>
                  <a:txBody>
                    <a:bodyPr/>
                    <a:lstStyle/>
                    <a:p>
                      <a:r>
                        <a:rPr sz="1800" b="0" dirty="0" err="1">
                          <a:solidFill>
                            <a:srgbClr val="222222"/>
                          </a:solidFill>
                          <a:latin typeface="Times New Roman" panose="02020603050405020304" pitchFamily="18" charset="0"/>
                          <a:cs typeface="Times New Roman" panose="02020603050405020304" pitchFamily="18" charset="0"/>
                        </a:rPr>
                        <a:t>Garikipati</a:t>
                      </a:r>
                      <a:r>
                        <a:rPr sz="1800" b="0" dirty="0">
                          <a:solidFill>
                            <a:srgbClr val="222222"/>
                          </a:solidFill>
                          <a:latin typeface="Times New Roman" panose="02020603050405020304" pitchFamily="18" charset="0"/>
                          <a:cs typeface="Times New Roman" panose="02020603050405020304" pitchFamily="18" charset="0"/>
                        </a:rPr>
                        <a:t>  Likhitha </a:t>
                      </a:r>
                    </a:p>
                  </a:txBody>
                  <a:tcPr anchor="ctr">
                    <a:solidFill>
                      <a:srgbClr val="EAF1F7"/>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UI design, documentation &amp; presentation</a:t>
                      </a:r>
                    </a:p>
                  </a:txBody>
                  <a:tcPr anchor="ctr">
                    <a:solidFill>
                      <a:srgbClr val="EAF1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80977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C0285F-93AB-F1ED-9404-7BA7181450BB}"/>
              </a:ext>
            </a:extLst>
          </p:cNvPr>
          <p:cNvSpPr>
            <a:spLocks noGrp="1"/>
          </p:cNvSpPr>
          <p:nvPr>
            <p:ph type="dt" sz="half" idx="1"/>
          </p:nvPr>
        </p:nvSpPr>
        <p:spPr/>
        <p:txBody>
          <a:bodyPr/>
          <a:lstStyle/>
          <a:p>
            <a:r>
              <a:rPr lang="en-US" dirty="0"/>
              <a:t>24/09/2026</a:t>
            </a:r>
          </a:p>
        </p:txBody>
      </p:sp>
      <p:sp>
        <p:nvSpPr>
          <p:cNvPr id="5" name="Slide Number Placeholder 4">
            <a:extLst>
              <a:ext uri="{FF2B5EF4-FFF2-40B4-BE49-F238E27FC236}">
                <a16:creationId xmlns:a16="http://schemas.microsoft.com/office/drawing/2014/main" id="{62FA9194-EE25-3196-F348-A230F71DC180}"/>
              </a:ext>
            </a:extLst>
          </p:cNvPr>
          <p:cNvSpPr>
            <a:spLocks noGrp="1"/>
          </p:cNvSpPr>
          <p:nvPr>
            <p:ph type="sldNum" sz="quarter" idx="3"/>
          </p:nvPr>
        </p:nvSpPr>
        <p:spPr/>
        <p:txBody>
          <a:bodyPr/>
          <a:lstStyle/>
          <a:p>
            <a:fld id="{9359D16F-76A5-41BA-ADDD-CBF352B33DDD}" type="slidenum">
              <a:rPr lang="en-IN" smtClean="0"/>
              <a:t>12</a:t>
            </a:fld>
            <a:endParaRPr lang="en-IN" dirty="0"/>
          </a:p>
        </p:txBody>
      </p:sp>
      <p:pic>
        <p:nvPicPr>
          <p:cNvPr id="9" name="Content Placeholder 8">
            <a:extLst>
              <a:ext uri="{FF2B5EF4-FFF2-40B4-BE49-F238E27FC236}">
                <a16:creationId xmlns:a16="http://schemas.microsoft.com/office/drawing/2014/main" id="{77F12244-7942-B087-F3A3-A099A60F4490}"/>
              </a:ext>
            </a:extLst>
          </p:cNvPr>
          <p:cNvPicPr>
            <a:picLocks noGrp="1" noChangeAspect="1"/>
          </p:cNvPicPr>
          <p:nvPr>
            <p:ph/>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752600" y="1447800"/>
            <a:ext cx="8152606" cy="4530725"/>
          </a:xfrm>
          <a:prstGeom prst="rect">
            <a:avLst/>
          </a:prstGeom>
          <a:ln>
            <a:noFill/>
          </a:ln>
          <a:effectLst>
            <a:softEdge rad="112500"/>
          </a:effectLst>
        </p:spPr>
      </p:pic>
    </p:spTree>
    <p:extLst>
      <p:ext uri="{BB962C8B-B14F-4D97-AF65-F5344CB8AC3E}">
        <p14:creationId xmlns:p14="http://schemas.microsoft.com/office/powerpoint/2010/main" val="145396873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976</TotalTime>
  <Words>689</Words>
  <Application>Microsoft Office PowerPoint</Application>
  <PresentationFormat>Widescreen</PresentationFormat>
  <Paragraphs>139</Paragraphs>
  <Slides>12</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Aharoni</vt:lpstr>
      <vt:lpstr>Times New Roman</vt:lpstr>
      <vt:lpstr>Wingdings</vt:lpstr>
      <vt:lpstr>Arial Rounded MT Bold</vt:lpstr>
      <vt:lpstr>Courier New</vt:lpstr>
      <vt:lpstr>Calibri</vt:lpstr>
      <vt:lpstr>Calibri Light</vt:lpstr>
      <vt:lpstr>Maiandra GD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bobby burra</dc:creator>
  <cp:lastModifiedBy>bobby burra</cp:lastModifiedBy>
  <cp:revision>107</cp:revision>
  <cp:lastPrinted>2025-09-02T05:24:44Z</cp:lastPrinted>
  <dcterms:created xsi:type="dcterms:W3CDTF">2025-05-29T13:02:32Z</dcterms:created>
  <dcterms:modified xsi:type="dcterms:W3CDTF">2026-09-24T05:21:34Z</dcterms:modified>
</cp:coreProperties>
</file>